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40000" y="65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 b="1">
                <a:solidFill>
                  <a:srgbClr val="111827"/>
                </a:solidFill>
              </a:rPr>
              <a:t>Problem and Background</a:t>
            </a:r>
            <a:endParaRPr lang="ko-KR" sz="3600"/>
          </a:p>
        </p:txBody>
      </p:sp>
      <p:sp>
        <p:nvSpPr>
          <p:cNvPr id="4" name="Body"/>
          <p:cNvSpPr txBox="1"/>
          <p:nvPr/>
        </p:nvSpPr>
        <p:spPr>
          <a:xfrm>
            <a:off x="900000" y="17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43447"/>
                </a:solidFill>
              </a:rPr>
              <a:t>• 사내 지식은 메신저, Wiki/Confluence, Jira, 회의록에 분산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유사 문서와 버전 중복으로 기존 RAG의 저장/검색/토큰 비용 증가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Multi-turn, Multi-session 질문은 현재 대화와 과거 세션 맥락을 함께 요구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권한 없는 정보가 LLM 컨텍스트에 포함되지 않는 구조 필요</a:t>
            </a:r>
            <a:endParaRPr lang="ko-KR" sz="2200"/>
          </a:p>
        </p:txBody>
      </p:sp>
      <p:sp>
        <p:nvSpPr>
          <p:cNvPr id="5" name="Footer"/>
          <p:cNvSpPr txBox="1"/>
          <p:nvPr/>
        </p:nvSpPr>
        <p:spPr>
          <a:xfrm>
            <a:off x="900000" y="6350000"/>
            <a:ext cx="95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100">
                <a:solidFill>
                  <a:srgbClr val="64748B"/>
                </a:solidFill>
              </a:rPr>
              <a:t>SPRAG Pipeline Architecture | Slide 1 / 5</a:t>
            </a:r>
            <a:endParaRPr lang="ko-KR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40000" y="65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 b="1">
                <a:solidFill>
                  <a:srgbClr val="111827"/>
                </a:solidFill>
              </a:rPr>
              <a:t>Target Service and Stakeholders</a:t>
            </a:r>
            <a:endParaRPr lang="ko-KR" sz="3600"/>
          </a:p>
        </p:txBody>
      </p:sp>
      <p:sp>
        <p:nvSpPr>
          <p:cNvPr id="4" name="Body"/>
          <p:cNvSpPr txBox="1"/>
          <p:nvPr/>
        </p:nvSpPr>
        <p:spPr>
          <a:xfrm>
            <a:off x="900000" y="17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43447"/>
                </a:solidFill>
              </a:rPr>
              <a:t>• 사내 메신저에 통합된 AI Assistant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접근 가능한 과거 세션과 사내 문서를 검색해 출처 기반 답변 제공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임직원: 정확하고 빠른 답변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보안/운영/경영진: 권한 준수, 안정성, 비용 통제</a:t>
            </a:r>
            <a:endParaRPr lang="ko-KR" sz="2200"/>
          </a:p>
        </p:txBody>
      </p:sp>
      <p:sp>
        <p:nvSpPr>
          <p:cNvPr id="5" name="Footer"/>
          <p:cNvSpPr txBox="1"/>
          <p:nvPr/>
        </p:nvSpPr>
        <p:spPr>
          <a:xfrm>
            <a:off x="900000" y="6350000"/>
            <a:ext cx="95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100">
                <a:solidFill>
                  <a:srgbClr val="64748B"/>
                </a:solidFill>
              </a:rPr>
              <a:t>SPRAG Pipeline Architecture | Slide 2 / 5</a:t>
            </a:r>
            <a:endParaRPr lang="ko-KR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40000" y="65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 b="1">
                <a:solidFill>
                  <a:srgbClr val="111827"/>
                </a:solidFill>
              </a:rPr>
              <a:t>Key Use Cases</a:t>
            </a:r>
            <a:endParaRPr lang="ko-KR" sz="3600"/>
          </a:p>
        </p:txBody>
      </p:sp>
      <p:sp>
        <p:nvSpPr>
          <p:cNvPr id="4" name="Body"/>
          <p:cNvSpPr txBox="1"/>
          <p:nvPr/>
        </p:nvSpPr>
        <p:spPr>
          <a:xfrm>
            <a:off x="900000" y="17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43447"/>
                </a:solidFill>
              </a:rPr>
              <a:t>• 멀티 세션 업무 회고: 과거 대화와 문서를 묶어 프로젝트 이력 요약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사내 문서 질의응답: 최신 정책, 기술 문서, Jira 이슈 기반 답변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그룹 채팅 지원: 참여자들이 접근 가능한 정보만 사용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충돌 정보 판별: 출처 신뢰도와 최신성을 기준으로 답변</a:t>
            </a:r>
            <a:endParaRPr lang="ko-KR" sz="2200"/>
          </a:p>
        </p:txBody>
      </p:sp>
      <p:sp>
        <p:nvSpPr>
          <p:cNvPr id="5" name="Footer"/>
          <p:cNvSpPr txBox="1"/>
          <p:nvPr/>
        </p:nvSpPr>
        <p:spPr>
          <a:xfrm>
            <a:off x="900000" y="6350000"/>
            <a:ext cx="95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100">
                <a:solidFill>
                  <a:srgbClr val="64748B"/>
                </a:solidFill>
              </a:rPr>
              <a:t>SPRAG Pipeline Architecture | Slide 3 / 5</a:t>
            </a:r>
            <a:endParaRPr lang="ko-KR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40000" y="65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 b="1">
                <a:solidFill>
                  <a:srgbClr val="111827"/>
                </a:solidFill>
              </a:rPr>
              <a:t>Functional Scope and Pipeline</a:t>
            </a:r>
            <a:endParaRPr lang="ko-KR" sz="3600"/>
          </a:p>
        </p:txBody>
      </p:sp>
      <p:sp>
        <p:nvSpPr>
          <p:cNvPr id="4" name="Body"/>
          <p:cNvSpPr txBox="1"/>
          <p:nvPr/>
        </p:nvSpPr>
        <p:spPr>
          <a:xfrm>
            <a:off x="900000" y="17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43447"/>
                </a:solidFill>
              </a:rPr>
              <a:t>• Offline SPRAG: 수집, 정규화, 마스킹, 중복 탐지, 대표 청크 생성, 인덱싱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Online Retrieval: 질의 수신, 권한 계산, Vector Search, Metadata Filtering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Re-ranking 후 Top-K 컨텍스트만 LLM에 전달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답변에는 주요 출처와 기준을 함께 제시</a:t>
            </a:r>
            <a:endParaRPr lang="ko-KR" sz="2200"/>
          </a:p>
        </p:txBody>
      </p:sp>
      <p:sp>
        <p:nvSpPr>
          <p:cNvPr id="5" name="Footer"/>
          <p:cNvSpPr txBox="1"/>
          <p:nvPr/>
        </p:nvSpPr>
        <p:spPr>
          <a:xfrm>
            <a:off x="900000" y="6350000"/>
            <a:ext cx="95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100">
                <a:solidFill>
                  <a:srgbClr val="64748B"/>
                </a:solidFill>
              </a:rPr>
              <a:t>SPRAG Pipeline Architecture | Slide 4 / 5</a:t>
            </a:r>
            <a:endParaRPr lang="ko-KR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40000" y="65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 b="1">
                <a:solidFill>
                  <a:srgbClr val="111827"/>
                </a:solidFill>
              </a:rPr>
              <a:t>Quality Attributes and Architecture Drivers</a:t>
            </a:r>
            <a:endParaRPr lang="ko-KR" sz="3600"/>
          </a:p>
        </p:txBody>
      </p:sp>
      <p:sp>
        <p:nvSpPr>
          <p:cNvPr id="4" name="Body"/>
          <p:cNvSpPr txBox="1"/>
          <p:nvPr/>
        </p:nvSpPr>
        <p:spPr>
          <a:xfrm>
            <a:off x="900000" y="17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43447"/>
                </a:solidFill>
              </a:rPr>
              <a:t>• Functional Suitability: 정확한 근거 선택과 출처 기반 답변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Performance Efficiency: 중복 제거, 토큰 절감, 응답시간 통제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Security: ACL Filtering, Opt-in/out, 감사 로그</a:t>
            </a:r>
            <a:endParaRPr lang="ko-KR" sz="2200"/>
          </a:p>
          <a:p>
            <a:r>
              <a:rPr lang="ko-KR" sz="2200">
                <a:solidFill>
                  <a:srgbClr val="243447"/>
                </a:solidFill>
              </a:rPr>
              <a:t>• Reliability/Maintainability: Offline/Online 분리, 재처리, 정책 설정화</a:t>
            </a:r>
            <a:endParaRPr lang="ko-KR" sz="2200"/>
          </a:p>
        </p:txBody>
      </p:sp>
      <p:sp>
        <p:nvSpPr>
          <p:cNvPr id="5" name="Footer"/>
          <p:cNvSpPr txBox="1"/>
          <p:nvPr/>
        </p:nvSpPr>
        <p:spPr>
          <a:xfrm>
            <a:off x="900000" y="6350000"/>
            <a:ext cx="95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100">
                <a:solidFill>
                  <a:srgbClr val="64748B"/>
                </a:solidFill>
              </a:rPr>
              <a:t>SPRAG Pipeline Architecture | Slide 5 / 5</a:t>
            </a:r>
            <a:endParaRPr lang="ko-KR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64748B"/>
      </a:accent6>
      <a:hlink>
        <a:srgbClr val="2563EB"/>
      </a:hlink>
      <a:folHlink>
        <a:srgbClr val="8B5CF6"/>
      </a:folHlink>
    </a:clrScheme>
    <a:fontScheme name="Office">
      <a:majorFont>
        <a:latin typeface="Aptos Display"/>
        <a:ea typeface="Malgun Gothic"/>
        <a:cs typeface=""/>
      </a:majorFont>
      <a:minorFont>
        <a:latin typeface="Aptos"/>
        <a:ea typeface="Malgun Gothic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(4:3)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SPRAG AI Assistant PPT Example</dc:title>
  <dc:creator>Codex</dc:creator>
  <cp:lastModifiedBy>Codex</cp:lastModifiedBy>
  <dcterms:created xsi:type="dcterms:W3CDTF">2026-05-06T07:35:50Z</dcterms:created>
  <dcterms:modified xsi:type="dcterms:W3CDTF">2026-05-06T07:35:50Z</dcterms:modified>
</cp:coreProperties>
</file>