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Chapter"/>
          <p:cNvSpPr txBox="1"/>
          <p:nvPr/>
        </p:nvSpPr>
        <p:spPr>
          <a:xfrm>
            <a:off x="658368" y="347472"/>
            <a:ext cx="310896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buNone/>
            </a:pPr>
            <a:r>
              <a:rPr lang="ko-KR" sz="1050" dirty="0" b="1">
                <a:solidFill>
                  <a:srgbClr val="0066CC"/>
                </a:solidFill>
                <a:latin typeface="Aptos"/>
                <a:ea typeface="Aptos"/>
                <a:cs typeface="Aptos"/>
              </a:rPr>
              <a:t>01 PROJECT OVERVIEW</a:t>
            </a:r>
            <a:endParaRPr lang="ko-KR" sz="1050"/>
          </a:p>
        </p:txBody>
      </p:sp>
      <p:sp>
        <p:nvSpPr>
          <p:cNvPr id="5" name="Title"/>
          <p:cNvSpPr txBox="1"/>
          <p:nvPr/>
        </p:nvSpPr>
        <p:spPr>
          <a:xfrm>
            <a:off x="658368" y="658368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buNone/>
            </a:pPr>
            <a:r>
              <a:rPr lang="ko-KR" sz="2600" dirty="0" b="1">
                <a:solidFill>
                  <a:srgbClr val="1D1D1F"/>
                </a:solidFill>
                <a:latin typeface="Aptos"/>
                <a:ea typeface="Aptos"/>
                <a:cs typeface="Aptos"/>
              </a:rPr>
              <a:t>Problem &amp; Goal</a:t>
            </a:r>
            <a:endParaRPr lang="ko-KR" sz="2600"/>
          </a:p>
        </p:txBody>
      </p:sp>
      <p:sp>
        <p:nvSpPr>
          <p:cNvPr id="6" name="Subtitle"/>
          <p:cNvSpPr txBox="1"/>
          <p:nvPr/>
        </p:nvSpPr>
        <p:spPr>
          <a:xfrm>
            <a:off x="658368" y="1133856"/>
            <a:ext cx="969264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buNone/>
            </a:pPr>
            <a:r>
              <a:rPr lang="ko-KR" sz="1250" dirty="0">
                <a:solidFill>
                  <a:srgbClr val="6E6E73"/>
                </a:solidFill>
                <a:latin typeface="Aptos"/>
                <a:ea typeface="Aptos"/>
                <a:cs typeface="Aptos"/>
              </a:rPr>
              <a:t>중복 많은 사내 지식과 다중 세션 맥락을 안전하고 저비용으로 LLM에 공급하는 Architecture 과제</a:t>
            </a:r>
            <a:endParaRPr lang="ko-KR" sz="1250"/>
          </a:p>
        </p:txBody>
      </p:sp>
      <p:sp>
        <p:nvSpPr>
          <p:cNvPr id="7" name="Thesis"/>
          <p:cNvSpPr txBox="1"/>
          <p:nvPr/>
        </p:nvSpPr>
        <p:spPr>
          <a:xfrm>
            <a:off x="658368" y="1783080"/>
            <a:ext cx="4983480" cy="1874519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buNone/>
            </a:pPr>
            <a:r>
              <a:rPr lang="ko-KR" sz="1800" dirty="0" b="1">
                <a:solidFill>
                  <a:srgbClr val="1D1D1F"/>
                </a:solidFill>
                <a:latin typeface="Aptos"/>
                <a:ea typeface="Aptos"/>
                <a:cs typeface="Aptos"/>
              </a:rPr>
              <a:t>AI Assistant가 아니라,</a:t>
            </a:r>
            <a:endParaRPr lang="ko-KR" sz="1800"/>
          </a:p>
          <a:p>
            <a:pPr algn="l">
              <a:buNone/>
            </a:pPr>
            <a:r>
              <a:rPr lang="ko-KR" sz="1800" dirty="0" b="1">
                <a:solidFill>
                  <a:srgbClr val="1D1D1F"/>
                </a:solidFill>
                <a:latin typeface="Aptos"/>
                <a:ea typeface="Aptos"/>
                <a:cs typeface="Aptos"/>
              </a:rPr>
              <a:t>사내 지식을 LLM에 안전하고 효율적으로 공급하는</a:t>
            </a:r>
            <a:endParaRPr lang="ko-KR" sz="1800"/>
          </a:p>
          <a:p>
            <a:pPr algn="l">
              <a:buNone/>
            </a:pPr>
            <a:r>
              <a:rPr lang="ko-KR" sz="2000" dirty="0" b="1">
                <a:solidFill>
                  <a:srgbClr val="0066CC"/>
                </a:solidFill>
                <a:latin typeface="Aptos"/>
                <a:ea typeface="Aptos"/>
                <a:cs typeface="Aptos"/>
              </a:rPr>
              <a:t>SPRAG Pipeline Architecture 설계 과제</a:t>
            </a:r>
            <a:endParaRPr lang="ko-KR" sz="2000"/>
          </a:p>
          <a:p>
            <a:pPr algn="l">
              <a:buNone/>
            </a:pPr>
            <a:r>
              <a:rPr lang="ko-KR" sz="1150" dirty="0">
                <a:solidFill>
                  <a:srgbClr val="6E6E73"/>
                </a:solidFill>
                <a:latin typeface="Aptos"/>
                <a:ea typeface="Aptos"/>
                <a:cs typeface="Aptos"/>
              </a:rPr>
              <a:t>중복 자료가 많은 사내 데이터에서 적은 토큰으로 정확한 근거를 추출하고, Multi-session 맥락과 권한 정책을 함께 처리한다.</a:t>
            </a:r>
            <a:endParaRPr lang="ko-KR" sz="1150"/>
          </a:p>
        </p:txBody>
      </p:sp>
      <p:sp>
        <p:nvSpPr>
          <p:cNvPr id="8" name="1"/>
          <p:cNvSpPr txBox="1"/>
          <p:nvPr/>
        </p:nvSpPr>
        <p:spPr>
          <a:xfrm>
            <a:off x="6126480" y="1783080"/>
            <a:ext cx="411480" cy="228600"/>
          </a:xfrm>
          <a:prstGeom prst="roundRect">
            <a:avLst/>
          </a:prstGeom>
          <a:solidFill>
            <a:srgbClr val="0066CC"/>
          </a:solidFill>
          <a:ln>
            <a:noFill/>
          </a:ln>
        </p:spPr>
        <p:txBody>
          <a:bodyPr wrap="square" anchor="ctr" lIns="0" tIns="0" rIns="0" bIns="0"/>
          <a:lstStyle/>
          <a:p>
            <a:pPr algn="ctr">
              <a:buNone/>
            </a:pPr>
            <a:r>
              <a:rPr lang="ko-KR" sz="850" dirty="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  <a:endParaRPr lang="ko-KR" sz="850"/>
          </a:p>
        </p:txBody>
      </p:sp>
      <p:sp>
        <p:nvSpPr>
          <p:cNvPr id="9" name="Fragmented Knowledge"/>
          <p:cNvSpPr txBox="1"/>
          <p:nvPr/>
        </p:nvSpPr>
        <p:spPr>
          <a:xfrm>
            <a:off x="6629400" y="1737360"/>
            <a:ext cx="4800600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txBody>
          <a:bodyPr wrap="square" anchor="t" lIns="109728" tIns="109728" rIns="109728" bIns="109728"/>
          <a:lstStyle/>
          <a:p>
            <a:pPr algn="l">
              <a:buNone/>
            </a:pPr>
            <a:r>
              <a:rPr lang="ko-KR" sz="1250" dirty="0" b="1">
                <a:solidFill>
                  <a:srgbClr val="1D1D1F"/>
                </a:solidFill>
                <a:latin typeface="Aptos"/>
                <a:ea typeface="Aptos"/>
                <a:cs typeface="Aptos"/>
              </a:rPr>
              <a:t>Fragmented Knowledge</a:t>
            </a:r>
            <a:endParaRPr lang="ko-KR" sz="1250"/>
          </a:p>
          <a:p>
            <a:pPr algn="l">
              <a:buNone/>
            </a:pPr>
            <a:r>
              <a:rPr lang="ko-KR" sz="969" dirty="0">
                <a:solidFill>
                  <a:srgbClr val="6E6E73"/>
                </a:solidFill>
                <a:latin typeface="Aptos"/>
                <a:ea typeface="Aptos"/>
                <a:cs typeface="Aptos"/>
              </a:rPr>
              <a:t>메신저, Wiki/Confluence, Jira, 회의록에 업무 지식 분산</a:t>
            </a:r>
            <a:endParaRPr lang="ko-KR" sz="969"/>
          </a:p>
        </p:txBody>
      </p:sp>
      <p:sp>
        <p:nvSpPr>
          <p:cNvPr id="10" name="2"/>
          <p:cNvSpPr txBox="1"/>
          <p:nvPr/>
        </p:nvSpPr>
        <p:spPr>
          <a:xfrm>
            <a:off x="6126480" y="2587751"/>
            <a:ext cx="411480" cy="228600"/>
          </a:xfrm>
          <a:prstGeom prst="roundRect">
            <a:avLst/>
          </a:prstGeom>
          <a:solidFill>
            <a:srgbClr val="0066CC"/>
          </a:solidFill>
          <a:ln>
            <a:noFill/>
          </a:ln>
        </p:spPr>
        <p:txBody>
          <a:bodyPr wrap="square" anchor="ctr" lIns="0" tIns="0" rIns="0" bIns="0"/>
          <a:lstStyle/>
          <a:p>
            <a:pPr algn="ctr">
              <a:buNone/>
            </a:pPr>
            <a:r>
              <a:rPr lang="ko-KR" sz="850" dirty="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  <a:endParaRPr lang="ko-KR" sz="850"/>
          </a:p>
        </p:txBody>
      </p:sp>
      <p:sp>
        <p:nvSpPr>
          <p:cNvPr id="11" name="Duplicate-heavy Data"/>
          <p:cNvSpPr txBox="1"/>
          <p:nvPr/>
        </p:nvSpPr>
        <p:spPr>
          <a:xfrm>
            <a:off x="6629400" y="2542032"/>
            <a:ext cx="4800600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txBody>
          <a:bodyPr wrap="square" anchor="t" lIns="109728" tIns="109728" rIns="109728" bIns="109728"/>
          <a:lstStyle/>
          <a:p>
            <a:pPr algn="l">
              <a:buNone/>
            </a:pPr>
            <a:r>
              <a:rPr lang="ko-KR" sz="1250" dirty="0" b="1">
                <a:solidFill>
                  <a:srgbClr val="1D1D1F"/>
                </a:solidFill>
                <a:latin typeface="Aptos"/>
                <a:ea typeface="Aptos"/>
                <a:cs typeface="Aptos"/>
              </a:rPr>
              <a:t>Duplicate-heavy Data</a:t>
            </a:r>
            <a:endParaRPr lang="ko-KR" sz="1250"/>
          </a:p>
          <a:p>
            <a:pPr algn="l">
              <a:buNone/>
            </a:pPr>
            <a:r>
              <a:rPr lang="ko-KR" sz="969" dirty="0">
                <a:solidFill>
                  <a:srgbClr val="6E6E73"/>
                </a:solidFill>
                <a:latin typeface="Aptos"/>
                <a:ea typeface="Aptos"/>
                <a:cs typeface="Aptos"/>
              </a:rPr>
              <a:t>버전 문서, 유사 가이드, 반복 대화가 RAG 비용과 정확도에 영향</a:t>
            </a:r>
            <a:endParaRPr lang="ko-KR" sz="969"/>
          </a:p>
        </p:txBody>
      </p:sp>
      <p:sp>
        <p:nvSpPr>
          <p:cNvPr id="12" name="3"/>
          <p:cNvSpPr txBox="1"/>
          <p:nvPr/>
        </p:nvSpPr>
        <p:spPr>
          <a:xfrm>
            <a:off x="6126480" y="3392423"/>
            <a:ext cx="411480" cy="228600"/>
          </a:xfrm>
          <a:prstGeom prst="roundRect">
            <a:avLst/>
          </a:prstGeom>
          <a:solidFill>
            <a:srgbClr val="0066CC"/>
          </a:solidFill>
          <a:ln>
            <a:noFill/>
          </a:ln>
        </p:spPr>
        <p:txBody>
          <a:bodyPr wrap="square" anchor="ctr" lIns="0" tIns="0" rIns="0" bIns="0"/>
          <a:lstStyle/>
          <a:p>
            <a:pPr algn="ctr">
              <a:buNone/>
            </a:pPr>
            <a:r>
              <a:rPr lang="ko-KR" sz="850" dirty="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  <a:endParaRPr lang="ko-KR" sz="850"/>
          </a:p>
        </p:txBody>
      </p:sp>
      <p:sp>
        <p:nvSpPr>
          <p:cNvPr id="13" name="Context Continuity"/>
          <p:cNvSpPr txBox="1"/>
          <p:nvPr/>
        </p:nvSpPr>
        <p:spPr>
          <a:xfrm>
            <a:off x="6629400" y="3346703"/>
            <a:ext cx="4800600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txBody>
          <a:bodyPr wrap="square" anchor="t" lIns="109728" tIns="109728" rIns="109728" bIns="109728"/>
          <a:lstStyle/>
          <a:p>
            <a:pPr algn="l">
              <a:buNone/>
            </a:pPr>
            <a:r>
              <a:rPr lang="ko-KR" sz="1250" dirty="0" b="1">
                <a:solidFill>
                  <a:srgbClr val="1D1D1F"/>
                </a:solidFill>
                <a:latin typeface="Aptos"/>
                <a:ea typeface="Aptos"/>
                <a:cs typeface="Aptos"/>
              </a:rPr>
              <a:t>Context Continuity</a:t>
            </a:r>
            <a:endParaRPr lang="ko-KR" sz="1250"/>
          </a:p>
          <a:p>
            <a:pPr algn="l">
              <a:buNone/>
            </a:pPr>
            <a:r>
              <a:rPr lang="ko-KR" sz="969" dirty="0">
                <a:solidFill>
                  <a:srgbClr val="6E6E73"/>
                </a:solidFill>
                <a:latin typeface="Aptos"/>
                <a:ea typeface="Aptos"/>
                <a:cs typeface="Aptos"/>
              </a:rPr>
              <a:t>현재 대화와 과거 여러 세션을 연결해야 업무 맥락 보존</a:t>
            </a:r>
            <a:endParaRPr lang="ko-KR" sz="969"/>
          </a:p>
        </p:txBody>
      </p:sp>
      <p:sp>
        <p:nvSpPr>
          <p:cNvPr id="14" name="4"/>
          <p:cNvSpPr txBox="1"/>
          <p:nvPr/>
        </p:nvSpPr>
        <p:spPr>
          <a:xfrm>
            <a:off x="6126480" y="4197096"/>
            <a:ext cx="411480" cy="228600"/>
          </a:xfrm>
          <a:prstGeom prst="roundRect">
            <a:avLst/>
          </a:prstGeom>
          <a:solidFill>
            <a:srgbClr val="0066CC"/>
          </a:solidFill>
          <a:ln>
            <a:noFill/>
          </a:ln>
        </p:spPr>
        <p:txBody>
          <a:bodyPr wrap="square" anchor="ctr" lIns="0" tIns="0" rIns="0" bIns="0"/>
          <a:lstStyle/>
          <a:p>
            <a:pPr algn="ctr">
              <a:buNone/>
            </a:pPr>
            <a:r>
              <a:rPr lang="ko-KR" sz="850" dirty="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  <a:endParaRPr lang="ko-KR" sz="850"/>
          </a:p>
        </p:txBody>
      </p:sp>
      <p:sp>
        <p:nvSpPr>
          <p:cNvPr id="15" name="Secure Retrieval"/>
          <p:cNvSpPr txBox="1"/>
          <p:nvPr/>
        </p:nvSpPr>
        <p:spPr>
          <a:xfrm>
            <a:off x="6629400" y="4151376"/>
            <a:ext cx="4800600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txBody>
          <a:bodyPr wrap="square" anchor="t" lIns="109728" tIns="109728" rIns="109728" bIns="109728"/>
          <a:lstStyle/>
          <a:p>
            <a:pPr algn="l">
              <a:buNone/>
            </a:pPr>
            <a:r>
              <a:rPr lang="ko-KR" sz="1250" dirty="0" b="1">
                <a:solidFill>
                  <a:srgbClr val="1D1D1F"/>
                </a:solidFill>
                <a:latin typeface="Aptos"/>
                <a:ea typeface="Aptos"/>
                <a:cs typeface="Aptos"/>
              </a:rPr>
              <a:t>Secure Retrieval</a:t>
            </a:r>
            <a:endParaRPr lang="ko-KR" sz="1250"/>
          </a:p>
          <a:p>
            <a:pPr algn="l">
              <a:buNone/>
            </a:pPr>
            <a:r>
              <a:rPr lang="ko-KR" sz="969" dirty="0">
                <a:solidFill>
                  <a:srgbClr val="6E6E73"/>
                </a:solidFill>
                <a:latin typeface="Aptos"/>
                <a:ea typeface="Aptos"/>
                <a:cs typeface="Aptos"/>
              </a:rPr>
              <a:t>권한 없는 문서/세션은 LLM Context에 포함 금지</a:t>
            </a:r>
            <a:endParaRPr lang="ko-KR" sz="969"/>
          </a:p>
        </p:txBody>
      </p:sp>
      <p:sp>
        <p:nvSpPr>
          <p:cNvPr id="16" name="Goal"/>
          <p:cNvSpPr txBox="1"/>
          <p:nvPr/>
        </p:nvSpPr>
        <p:spPr>
          <a:xfrm>
            <a:off x="658368" y="4096512"/>
            <a:ext cx="10771632" cy="941832"/>
          </a:xfrm>
          <a:prstGeom prst="roundRect">
            <a:avLst/>
          </a:prstGeom>
          <a:solidFill>
            <a:srgbClr val="F5F5F7"/>
          </a:solidFill>
          <a:ln w="9525">
            <a:solidFill>
              <a:srgbClr val="E0E0E0"/>
            </a:solidFill>
          </a:ln>
        </p:spPr>
        <p:txBody>
          <a:bodyPr wrap="square" anchor="t" lIns="164592" tIns="164592" rIns="164592" bIns="164592"/>
          <a:lstStyle/>
          <a:p>
            <a:pPr algn="l">
              <a:buNone/>
            </a:pPr>
            <a:r>
              <a:rPr lang="ko-KR" sz="1400" dirty="0" b="1">
                <a:solidFill>
                  <a:srgbClr val="0066CC"/>
                </a:solidFill>
                <a:latin typeface="Aptos"/>
                <a:ea typeface="Aptos"/>
                <a:cs typeface="Aptos"/>
              </a:rPr>
              <a:t>Goal </a:t>
            </a:r>
            <a:r>
              <a:rPr lang="ko-KR" sz="1400" dirty="0">
                <a:solidFill>
                  <a:srgbClr val="1D1D1F"/>
                </a:solidFill>
                <a:latin typeface="Aptos"/>
                <a:ea typeface="Aptos"/>
                <a:cs typeface="Aptos"/>
              </a:rPr>
              <a:t>Offline SPRAG으로 중복/유사 데이터를 대표화하고, Online Retrieval에서 권한·세션·출처 신뢰도·최신성을 반영해 Top-K 근거만 LLM에 전달한다.</a:t>
            </a:r>
            <a:endParaRPr lang="ko-KR" sz="1400"/>
          </a:p>
        </p:txBody>
      </p:sp>
      <p:sp>
        <p:nvSpPr>
          <p:cNvPr id="17" name="Footer"/>
          <p:cNvSpPr txBox="1"/>
          <p:nvPr/>
        </p:nvSpPr>
        <p:spPr>
          <a:xfrm>
            <a:off x="658368" y="6473952"/>
            <a:ext cx="54864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buNone/>
            </a:pPr>
            <a:r>
              <a:rPr lang="ko-KR" sz="850" dirty="0">
                <a:solidFill>
                  <a:srgbClr val="6E6E73"/>
                </a:solidFill>
                <a:latin typeface="Aptos"/>
                <a:ea typeface="Aptos"/>
                <a:cs typeface="Aptos"/>
              </a:rPr>
              <a:t>SPRAG 기반 사내 메신저 AI Assistant Architecture</a:t>
            </a:r>
            <a:endParaRPr lang="ko-KR" sz="850"/>
          </a:p>
        </p:txBody>
      </p:sp>
      <p:sp>
        <p:nvSpPr>
          <p:cNvPr id="18" name="PageNo"/>
          <p:cNvSpPr txBox="1"/>
          <p:nvPr/>
        </p:nvSpPr>
        <p:spPr>
          <a:xfrm>
            <a:off x="10835640" y="6473952"/>
            <a:ext cx="713232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r">
              <a:buNone/>
            </a:pPr>
            <a:r>
              <a:rPr lang="ko-KR" sz="850" dirty="0">
                <a:solidFill>
                  <a:srgbClr val="6E6E73"/>
                </a:solidFill>
                <a:latin typeface="Aptos"/>
                <a:ea typeface="Aptos"/>
                <a:cs typeface="Aptos"/>
              </a:rPr>
              <a:t>01/12</a:t>
            </a:r>
            <a:endParaRPr lang="ko-KR" sz="85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72729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Chapter"/>
          <p:cNvSpPr txBox="1"/>
          <p:nvPr/>
        </p:nvSpPr>
        <p:spPr>
          <a:xfrm>
            <a:off x="658368" y="347472"/>
            <a:ext cx="310896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buNone/>
            </a:pPr>
            <a:r>
              <a:rPr lang="ko-KR" sz="1050" dirty="0" b="1">
                <a:solidFill>
                  <a:srgbClr val="2997FF"/>
                </a:solidFill>
                <a:latin typeface="Aptos"/>
                <a:ea typeface="Aptos"/>
                <a:cs typeface="Aptos"/>
              </a:rPr>
              <a:t>02 CONTEXT</a:t>
            </a:r>
            <a:endParaRPr lang="ko-KR" sz="1050"/>
          </a:p>
        </p:txBody>
      </p:sp>
      <p:sp>
        <p:nvSpPr>
          <p:cNvPr id="5" name="Title"/>
          <p:cNvSpPr txBox="1"/>
          <p:nvPr/>
        </p:nvSpPr>
        <p:spPr>
          <a:xfrm>
            <a:off x="658368" y="658368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buNone/>
            </a:pPr>
            <a:r>
              <a:rPr lang="ko-KR" sz="2600" dirty="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Background &amp; Stakeholders</a:t>
            </a:r>
            <a:endParaRPr lang="ko-KR" sz="2600"/>
          </a:p>
        </p:txBody>
      </p:sp>
      <p:sp>
        <p:nvSpPr>
          <p:cNvPr id="6" name="Subtitle"/>
          <p:cNvSpPr txBox="1"/>
          <p:nvPr/>
        </p:nvSpPr>
        <p:spPr>
          <a:xfrm>
            <a:off x="658368" y="1133856"/>
            <a:ext cx="969264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buNone/>
            </a:pPr>
            <a:r>
              <a:rPr lang="ko-KR" sz="1250" dirty="0">
                <a:solidFill>
                  <a:srgbClr val="CCCCCC"/>
                </a:solidFill>
                <a:latin typeface="Aptos"/>
                <a:ea typeface="Aptos"/>
                <a:cs typeface="Aptos"/>
              </a:rPr>
              <a:t>사내 AI Assistant는 사용자 편의성뿐 아니라 비용, 보안, 운영, 유지보수 요구를 동시에 만족해야 한다.</a:t>
            </a:r>
            <a:endParaRPr lang="ko-KR" sz="1250"/>
          </a:p>
        </p:txBody>
      </p:sp>
      <p:sp>
        <p:nvSpPr>
          <p:cNvPr id="7" name="End User"/>
          <p:cNvSpPr txBox="1"/>
          <p:nvPr/>
        </p:nvSpPr>
        <p:spPr>
          <a:xfrm>
            <a:off x="658368" y="1691640"/>
            <a:ext cx="3401568" cy="987552"/>
          </a:xfrm>
          <a:prstGeom prst="roundRect">
            <a:avLst/>
          </a:prstGeom>
          <a:solidFill>
            <a:srgbClr val="333336"/>
          </a:solidFill>
          <a:ln w="9525">
            <a:solidFill>
              <a:srgbClr val="56565A"/>
            </a:solidFill>
          </a:ln>
        </p:spPr>
        <p:txBody>
          <a:bodyPr wrap="square" anchor="t" lIns="109728" tIns="109728" rIns="109728" bIns="109728"/>
          <a:lstStyle/>
          <a:p>
            <a:pPr algn="l">
              <a:buNone/>
            </a:pPr>
            <a:r>
              <a:rPr lang="ko-KR" sz="850" dirty="0" b="1">
                <a:solidFill>
                  <a:srgbClr val="2997FF"/>
                </a:solidFill>
                <a:latin typeface="Aptos"/>
                <a:ea typeface="Aptos"/>
                <a:cs typeface="Aptos"/>
              </a:rPr>
              <a:t>STK-1</a:t>
            </a:r>
            <a:endParaRPr lang="ko-KR" sz="850"/>
          </a:p>
          <a:p>
            <a:pPr algn="l">
              <a:buNone/>
            </a:pPr>
            <a:r>
              <a:rPr lang="ko-KR" sz="1250" dirty="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End User</a:t>
            </a:r>
            <a:endParaRPr lang="ko-KR" sz="1250"/>
          </a:p>
          <a:p>
            <a:pPr algn="l">
              <a:buNone/>
            </a:pPr>
            <a:r>
              <a:rPr lang="ko-KR" sz="969" dirty="0">
                <a:solidFill>
                  <a:srgbClr val="CCCCCC"/>
                </a:solidFill>
                <a:latin typeface="Aptos"/>
                <a:ea typeface="Aptos"/>
                <a:cs typeface="Aptos"/>
              </a:rPr>
              <a:t>정확하고 빠른 업무 답변</a:t>
            </a:r>
            <a:endParaRPr lang="ko-KR" sz="969"/>
          </a:p>
          <a:p>
            <a:pPr algn="l">
              <a:buNone/>
            </a:pPr>
            <a:r>
              <a:rPr lang="ko-KR" sz="969" dirty="0">
                <a:solidFill>
                  <a:srgbClr val="CCCCCC"/>
                </a:solidFill>
                <a:latin typeface="Aptos"/>
                <a:ea typeface="Aptos"/>
                <a:cs typeface="Aptos"/>
              </a:rPr>
              <a:t>Functional Suitability
Performance Efficiency</a:t>
            </a:r>
            <a:endParaRPr lang="ko-KR" sz="969"/>
          </a:p>
        </p:txBody>
      </p:sp>
      <p:sp>
        <p:nvSpPr>
          <p:cNvPr id="8" name="Team Lead"/>
          <p:cNvSpPr txBox="1"/>
          <p:nvPr/>
        </p:nvSpPr>
        <p:spPr>
          <a:xfrm>
            <a:off x="4453128" y="1691640"/>
            <a:ext cx="3401568" cy="987552"/>
          </a:xfrm>
          <a:prstGeom prst="roundRect">
            <a:avLst/>
          </a:prstGeom>
          <a:solidFill>
            <a:srgbClr val="333336"/>
          </a:solidFill>
          <a:ln w="9525">
            <a:solidFill>
              <a:srgbClr val="56565A"/>
            </a:solidFill>
          </a:ln>
        </p:spPr>
        <p:txBody>
          <a:bodyPr wrap="square" anchor="t" lIns="109728" tIns="109728" rIns="109728" bIns="109728"/>
          <a:lstStyle/>
          <a:p>
            <a:pPr algn="l">
              <a:buNone/>
            </a:pPr>
            <a:r>
              <a:rPr lang="ko-KR" sz="850" dirty="0" b="1">
                <a:solidFill>
                  <a:srgbClr val="2997FF"/>
                </a:solidFill>
                <a:latin typeface="Aptos"/>
                <a:ea typeface="Aptos"/>
                <a:cs typeface="Aptos"/>
              </a:rPr>
              <a:t>STK-2</a:t>
            </a:r>
            <a:endParaRPr lang="ko-KR" sz="850"/>
          </a:p>
          <a:p>
            <a:pPr algn="l">
              <a:buNone/>
            </a:pPr>
            <a:r>
              <a:rPr lang="ko-KR" sz="1250" dirty="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Team Lead</a:t>
            </a:r>
            <a:endParaRPr lang="ko-KR" sz="1250"/>
          </a:p>
          <a:p>
            <a:pPr algn="l">
              <a:buNone/>
            </a:pPr>
            <a:r>
              <a:rPr lang="ko-KR" sz="969" dirty="0">
                <a:solidFill>
                  <a:srgbClr val="CCCCCC"/>
                </a:solidFill>
                <a:latin typeface="Aptos"/>
                <a:ea typeface="Aptos"/>
                <a:cs typeface="Aptos"/>
              </a:rPr>
              <a:t>과거 의사결정과 장애 이력 재활용</a:t>
            </a:r>
            <a:endParaRPr lang="ko-KR" sz="969"/>
          </a:p>
          <a:p>
            <a:pPr algn="l">
              <a:buNone/>
            </a:pPr>
            <a:r>
              <a:rPr lang="ko-KR" sz="969" dirty="0">
                <a:solidFill>
                  <a:srgbClr val="CCCCCC"/>
                </a:solidFill>
                <a:latin typeface="Aptos"/>
                <a:ea typeface="Aptos"/>
                <a:cs typeface="Aptos"/>
              </a:rPr>
              <a:t>Context Continuity
Traceability</a:t>
            </a:r>
            <a:endParaRPr lang="ko-KR" sz="969"/>
          </a:p>
        </p:txBody>
      </p:sp>
      <p:sp>
        <p:nvSpPr>
          <p:cNvPr id="9" name="Sponsor"/>
          <p:cNvSpPr txBox="1"/>
          <p:nvPr/>
        </p:nvSpPr>
        <p:spPr>
          <a:xfrm>
            <a:off x="8247888" y="1691640"/>
            <a:ext cx="3401568" cy="987552"/>
          </a:xfrm>
          <a:prstGeom prst="roundRect">
            <a:avLst/>
          </a:prstGeom>
          <a:solidFill>
            <a:srgbClr val="333336"/>
          </a:solidFill>
          <a:ln w="9525">
            <a:solidFill>
              <a:srgbClr val="56565A"/>
            </a:solidFill>
          </a:ln>
        </p:spPr>
        <p:txBody>
          <a:bodyPr wrap="square" anchor="t" lIns="109728" tIns="109728" rIns="109728" bIns="109728"/>
          <a:lstStyle/>
          <a:p>
            <a:pPr algn="l">
              <a:buNone/>
            </a:pPr>
            <a:r>
              <a:rPr lang="ko-KR" sz="850" dirty="0" b="1">
                <a:solidFill>
                  <a:srgbClr val="2997FF"/>
                </a:solidFill>
                <a:latin typeface="Aptos"/>
                <a:ea typeface="Aptos"/>
                <a:cs typeface="Aptos"/>
              </a:rPr>
              <a:t>STK-3</a:t>
            </a:r>
            <a:endParaRPr lang="ko-KR" sz="850"/>
          </a:p>
          <a:p>
            <a:pPr algn="l">
              <a:buNone/>
            </a:pPr>
            <a:r>
              <a:rPr lang="ko-KR" sz="1250" dirty="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Sponsor</a:t>
            </a:r>
            <a:endParaRPr lang="ko-KR" sz="1250"/>
          </a:p>
          <a:p>
            <a:pPr algn="l">
              <a:buNone/>
            </a:pPr>
            <a:r>
              <a:rPr lang="ko-KR" sz="969" dirty="0">
                <a:solidFill>
                  <a:srgbClr val="CCCCCC"/>
                </a:solidFill>
                <a:latin typeface="Aptos"/>
                <a:ea typeface="Aptos"/>
                <a:cs typeface="Aptos"/>
              </a:rPr>
              <a:t>토큰 비용과 ROI 통제</a:t>
            </a:r>
            <a:endParaRPr lang="ko-KR" sz="969"/>
          </a:p>
          <a:p>
            <a:pPr algn="l">
              <a:buNone/>
            </a:pPr>
            <a:r>
              <a:rPr lang="ko-KR" sz="969" dirty="0">
                <a:solidFill>
                  <a:srgbClr val="CCCCCC"/>
                </a:solidFill>
                <a:latin typeface="Aptos"/>
                <a:ea typeface="Aptos"/>
                <a:cs typeface="Aptos"/>
              </a:rPr>
              <a:t>Resource Utilization
Maintainability</a:t>
            </a:r>
            <a:endParaRPr lang="ko-KR" sz="969"/>
          </a:p>
        </p:txBody>
      </p:sp>
      <p:sp>
        <p:nvSpPr>
          <p:cNvPr id="10" name="Security"/>
          <p:cNvSpPr txBox="1"/>
          <p:nvPr/>
        </p:nvSpPr>
        <p:spPr>
          <a:xfrm>
            <a:off x="658368" y="2916936"/>
            <a:ext cx="3401568" cy="987552"/>
          </a:xfrm>
          <a:prstGeom prst="roundRect">
            <a:avLst/>
          </a:prstGeom>
          <a:solidFill>
            <a:srgbClr val="333336"/>
          </a:solidFill>
          <a:ln w="9525">
            <a:solidFill>
              <a:srgbClr val="56565A"/>
            </a:solidFill>
          </a:ln>
        </p:spPr>
        <p:txBody>
          <a:bodyPr wrap="square" anchor="t" lIns="109728" tIns="109728" rIns="109728" bIns="109728"/>
          <a:lstStyle/>
          <a:p>
            <a:pPr algn="l">
              <a:buNone/>
            </a:pPr>
            <a:r>
              <a:rPr lang="ko-KR" sz="850" dirty="0" b="1">
                <a:solidFill>
                  <a:srgbClr val="2997FF"/>
                </a:solidFill>
                <a:latin typeface="Aptos"/>
                <a:ea typeface="Aptos"/>
                <a:cs typeface="Aptos"/>
              </a:rPr>
              <a:t>STK-4</a:t>
            </a:r>
            <a:endParaRPr lang="ko-KR" sz="850"/>
          </a:p>
          <a:p>
            <a:pPr algn="l">
              <a:buNone/>
            </a:pPr>
            <a:r>
              <a:rPr lang="ko-KR" sz="1250" dirty="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Security</a:t>
            </a:r>
            <a:endParaRPr lang="ko-KR" sz="1250"/>
          </a:p>
          <a:p>
            <a:pPr algn="l">
              <a:buNone/>
            </a:pPr>
            <a:r>
              <a:rPr lang="ko-KR" sz="969" dirty="0">
                <a:solidFill>
                  <a:srgbClr val="CCCCCC"/>
                </a:solidFill>
                <a:latin typeface="Aptos"/>
                <a:ea typeface="Aptos"/>
                <a:cs typeface="Aptos"/>
              </a:rPr>
              <a:t>권한/보존/감사 정책 준수</a:t>
            </a:r>
            <a:endParaRPr lang="ko-KR" sz="969"/>
          </a:p>
          <a:p>
            <a:pPr algn="l">
              <a:buNone/>
            </a:pPr>
            <a:r>
              <a:rPr lang="ko-KR" sz="969" dirty="0">
                <a:solidFill>
                  <a:srgbClr val="CCCCCC"/>
                </a:solidFill>
                <a:latin typeface="Aptos"/>
                <a:ea typeface="Aptos"/>
                <a:cs typeface="Aptos"/>
              </a:rPr>
              <a:t>Confidentiality
Accountability</a:t>
            </a:r>
            <a:endParaRPr lang="ko-KR" sz="969"/>
          </a:p>
        </p:txBody>
      </p:sp>
      <p:sp>
        <p:nvSpPr>
          <p:cNvPr id="11" name="Ops/Admin"/>
          <p:cNvSpPr txBox="1"/>
          <p:nvPr/>
        </p:nvSpPr>
        <p:spPr>
          <a:xfrm>
            <a:off x="4453128" y="2916936"/>
            <a:ext cx="3401568" cy="987552"/>
          </a:xfrm>
          <a:prstGeom prst="roundRect">
            <a:avLst/>
          </a:prstGeom>
          <a:solidFill>
            <a:srgbClr val="333336"/>
          </a:solidFill>
          <a:ln w="9525">
            <a:solidFill>
              <a:srgbClr val="56565A"/>
            </a:solidFill>
          </a:ln>
        </p:spPr>
        <p:txBody>
          <a:bodyPr wrap="square" anchor="t" lIns="109728" tIns="109728" rIns="109728" bIns="109728"/>
          <a:lstStyle/>
          <a:p>
            <a:pPr algn="l">
              <a:buNone/>
            </a:pPr>
            <a:r>
              <a:rPr lang="ko-KR" sz="850" dirty="0" b="1">
                <a:solidFill>
                  <a:srgbClr val="2997FF"/>
                </a:solidFill>
                <a:latin typeface="Aptos"/>
                <a:ea typeface="Aptos"/>
                <a:cs typeface="Aptos"/>
              </a:rPr>
              <a:t>STK-5</a:t>
            </a:r>
            <a:endParaRPr lang="ko-KR" sz="850"/>
          </a:p>
          <a:p>
            <a:pPr algn="l">
              <a:buNone/>
            </a:pPr>
            <a:r>
              <a:rPr lang="ko-KR" sz="1250" dirty="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Ops/Admin</a:t>
            </a:r>
            <a:endParaRPr lang="ko-KR" sz="1250"/>
          </a:p>
          <a:p>
            <a:pPr algn="l">
              <a:buNone/>
            </a:pPr>
            <a:r>
              <a:rPr lang="ko-KR" sz="969" dirty="0">
                <a:solidFill>
                  <a:srgbClr val="CCCCCC"/>
                </a:solidFill>
                <a:latin typeface="Aptos"/>
                <a:ea typeface="Aptos"/>
                <a:cs typeface="Aptos"/>
              </a:rPr>
              <a:t>피크 시간 안정성과 장애 격리</a:t>
            </a:r>
            <a:endParaRPr lang="ko-KR" sz="969"/>
          </a:p>
          <a:p>
            <a:pPr algn="l">
              <a:buNone/>
            </a:pPr>
            <a:r>
              <a:rPr lang="ko-KR" sz="969" dirty="0">
                <a:solidFill>
                  <a:srgbClr val="CCCCCC"/>
                </a:solidFill>
                <a:latin typeface="Aptos"/>
                <a:ea typeface="Aptos"/>
                <a:cs typeface="Aptos"/>
              </a:rPr>
              <a:t>Availability
Recoverability</a:t>
            </a:r>
            <a:endParaRPr lang="ko-KR" sz="969"/>
          </a:p>
        </p:txBody>
      </p:sp>
      <p:sp>
        <p:nvSpPr>
          <p:cNvPr id="12" name="AI Platform"/>
          <p:cNvSpPr txBox="1"/>
          <p:nvPr/>
        </p:nvSpPr>
        <p:spPr>
          <a:xfrm>
            <a:off x="8247888" y="2916936"/>
            <a:ext cx="3401568" cy="987552"/>
          </a:xfrm>
          <a:prstGeom prst="roundRect">
            <a:avLst/>
          </a:prstGeom>
          <a:solidFill>
            <a:srgbClr val="333336"/>
          </a:solidFill>
          <a:ln w="9525">
            <a:solidFill>
              <a:srgbClr val="56565A"/>
            </a:solidFill>
          </a:ln>
        </p:spPr>
        <p:txBody>
          <a:bodyPr wrap="square" anchor="t" lIns="109728" tIns="109728" rIns="109728" bIns="109728"/>
          <a:lstStyle/>
          <a:p>
            <a:pPr algn="l">
              <a:buNone/>
            </a:pPr>
            <a:r>
              <a:rPr lang="ko-KR" sz="850" dirty="0" b="1">
                <a:solidFill>
                  <a:srgbClr val="2997FF"/>
                </a:solidFill>
                <a:latin typeface="Aptos"/>
                <a:ea typeface="Aptos"/>
                <a:cs typeface="Aptos"/>
              </a:rPr>
              <a:t>STK-6</a:t>
            </a:r>
            <a:endParaRPr lang="ko-KR" sz="850"/>
          </a:p>
          <a:p>
            <a:pPr algn="l">
              <a:buNone/>
            </a:pPr>
            <a:r>
              <a:rPr lang="ko-KR" sz="1250" dirty="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AI Platform</a:t>
            </a:r>
            <a:endParaRPr lang="ko-KR" sz="1250"/>
          </a:p>
          <a:p>
            <a:pPr algn="l">
              <a:buNone/>
            </a:pPr>
            <a:r>
              <a:rPr lang="ko-KR" sz="969" dirty="0">
                <a:solidFill>
                  <a:srgbClr val="CCCCCC"/>
                </a:solidFill>
                <a:latin typeface="Aptos"/>
                <a:ea typeface="Aptos"/>
                <a:cs typeface="Aptos"/>
              </a:rPr>
              <a:t>RAG 정책 변경과 회귀 검증</a:t>
            </a:r>
            <a:endParaRPr lang="ko-KR" sz="969"/>
          </a:p>
          <a:p>
            <a:pPr algn="l">
              <a:buNone/>
            </a:pPr>
            <a:r>
              <a:rPr lang="ko-KR" sz="969" dirty="0">
                <a:solidFill>
                  <a:srgbClr val="CCCCCC"/>
                </a:solidFill>
                <a:latin typeface="Aptos"/>
                <a:ea typeface="Aptos"/>
                <a:cs typeface="Aptos"/>
              </a:rPr>
              <a:t>Modifiability
Testability</a:t>
            </a:r>
            <a:endParaRPr lang="ko-KR" sz="969"/>
          </a:p>
        </p:txBody>
      </p:sp>
      <p:sp>
        <p:nvSpPr>
          <p:cNvPr id="13" name="Architecture Drivers"/>
          <p:cNvSpPr txBox="1"/>
          <p:nvPr/>
        </p:nvSpPr>
        <p:spPr>
          <a:xfrm>
            <a:off x="658368" y="4462272"/>
            <a:ext cx="10771632" cy="1051560"/>
          </a:xfrm>
          <a:prstGeom prst="roundRect">
            <a:avLst/>
          </a:prstGeom>
          <a:solidFill>
            <a:srgbClr val="3A3A3D"/>
          </a:solidFill>
          <a:ln w="9525">
            <a:solidFill>
              <a:srgbClr val="56565A"/>
            </a:solidFill>
          </a:ln>
        </p:spPr>
        <p:txBody>
          <a:bodyPr wrap="square" anchor="t" lIns="164592" tIns="164592" rIns="164592" bIns="164592"/>
          <a:lstStyle/>
          <a:p>
            <a:pPr algn="l">
              <a:buNone/>
            </a:pPr>
            <a:r>
              <a:rPr lang="ko-KR" sz="1350" dirty="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Architecture Drivers</a:t>
            </a:r>
            <a:endParaRPr lang="ko-KR" sz="1350"/>
          </a:p>
          <a:p>
            <a:pPr algn="l">
              <a:buNone/>
            </a:pPr>
            <a:r>
              <a:rPr lang="ko-KR" sz="1150" dirty="0">
                <a:solidFill>
                  <a:srgbClr val="CCCCCC"/>
                </a:solidFill>
                <a:latin typeface="Aptos"/>
                <a:ea typeface="Aptos"/>
                <a:cs typeface="Aptos"/>
              </a:rPr>
              <a:t>중복 데이터 최소화 · 근거 기반 정확성 · Multi-session Context · 권한 및 보존 정책 준수 · Offline/Online 책임 분리 · 정책 변경 용이성</a:t>
            </a:r>
            <a:endParaRPr lang="ko-KR" sz="1150"/>
          </a:p>
        </p:txBody>
      </p:sp>
      <p:sp>
        <p:nvSpPr>
          <p:cNvPr id="14" name="Footer"/>
          <p:cNvSpPr txBox="1"/>
          <p:nvPr/>
        </p:nvSpPr>
        <p:spPr>
          <a:xfrm>
            <a:off x="658368" y="6473952"/>
            <a:ext cx="54864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buNone/>
            </a:pPr>
            <a:r>
              <a:rPr lang="ko-KR" sz="850" dirty="0">
                <a:solidFill>
                  <a:srgbClr val="CCCCCC"/>
                </a:solidFill>
                <a:latin typeface="Aptos"/>
                <a:ea typeface="Aptos"/>
                <a:cs typeface="Aptos"/>
              </a:rPr>
              <a:t>SPRAG 기반 사내 메신저 AI Assistant Architecture</a:t>
            </a:r>
            <a:endParaRPr lang="ko-KR" sz="850"/>
          </a:p>
        </p:txBody>
      </p:sp>
      <p:sp>
        <p:nvSpPr>
          <p:cNvPr id="15" name="PageNo"/>
          <p:cNvSpPr txBox="1"/>
          <p:nvPr/>
        </p:nvSpPr>
        <p:spPr>
          <a:xfrm>
            <a:off x="10835640" y="6473952"/>
            <a:ext cx="713232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r">
              <a:buNone/>
            </a:pPr>
            <a:r>
              <a:rPr lang="ko-KR" sz="850" dirty="0">
                <a:solidFill>
                  <a:srgbClr val="CCCCCC"/>
                </a:solidFill>
                <a:latin typeface="Aptos"/>
                <a:ea typeface="Aptos"/>
                <a:cs typeface="Aptos"/>
              </a:rPr>
              <a:t>02/12</a:t>
            </a:r>
            <a:endParaRPr lang="ko-KR" sz="85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Chapter"/>
          <p:cNvSpPr txBox="1"/>
          <p:nvPr/>
        </p:nvSpPr>
        <p:spPr>
          <a:xfrm>
            <a:off x="658368" y="347472"/>
            <a:ext cx="310896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buNone/>
            </a:pPr>
            <a:r>
              <a:rPr lang="ko-KR" sz="1050" dirty="0" b="1">
                <a:solidFill>
                  <a:srgbClr val="0066CC"/>
                </a:solidFill>
                <a:latin typeface="Aptos"/>
                <a:ea typeface="Aptos"/>
                <a:cs typeface="Aptos"/>
              </a:rPr>
              <a:t>03 USE CASES</a:t>
            </a:r>
            <a:endParaRPr lang="ko-KR" sz="1050"/>
          </a:p>
        </p:txBody>
      </p:sp>
      <p:sp>
        <p:nvSpPr>
          <p:cNvPr id="5" name="Title"/>
          <p:cNvSpPr txBox="1"/>
          <p:nvPr/>
        </p:nvSpPr>
        <p:spPr>
          <a:xfrm>
            <a:off x="658368" y="658368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buNone/>
            </a:pPr>
            <a:r>
              <a:rPr lang="ko-KR" sz="2600" dirty="0" b="1">
                <a:solidFill>
                  <a:srgbClr val="1D1D1F"/>
                </a:solidFill>
                <a:latin typeface="Aptos"/>
                <a:ea typeface="Aptos"/>
                <a:cs typeface="Aptos"/>
              </a:rPr>
              <a:t>Key Use Cases</a:t>
            </a:r>
            <a:endParaRPr lang="ko-KR" sz="2600"/>
          </a:p>
        </p:txBody>
      </p:sp>
      <p:sp>
        <p:nvSpPr>
          <p:cNvPr id="6" name="Subtitle"/>
          <p:cNvSpPr txBox="1"/>
          <p:nvPr/>
        </p:nvSpPr>
        <p:spPr>
          <a:xfrm>
            <a:off x="658368" y="1133856"/>
            <a:ext cx="969264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buNone/>
            </a:pPr>
            <a:r>
              <a:rPr lang="ko-KR" sz="1250" dirty="0">
                <a:solidFill>
                  <a:srgbClr val="6E6E73"/>
                </a:solidFill>
                <a:latin typeface="Aptos"/>
                <a:ea typeface="Aptos"/>
                <a:cs typeface="Aptos"/>
              </a:rPr>
              <a:t>Use Case는 단순 질의응답보다 SPRAG Pipeline과 Multi-session Context가 필요한 상황을 중심으로 구성한다.</a:t>
            </a:r>
            <a:endParaRPr lang="ko-KR" sz="1250"/>
          </a:p>
        </p:txBody>
      </p:sp>
      <p:sp>
        <p:nvSpPr>
          <p:cNvPr id="7" name="멀티 세션 업무 회고"/>
          <p:cNvSpPr txBox="1"/>
          <p:nvPr/>
        </p:nvSpPr>
        <p:spPr>
          <a:xfrm>
            <a:off x="658368" y="1664208"/>
            <a:ext cx="3401568" cy="9875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txBody>
          <a:bodyPr wrap="square" anchor="t" lIns="109728" tIns="109728" rIns="109728" bIns="109728"/>
          <a:lstStyle/>
          <a:p>
            <a:pPr algn="l">
              <a:buNone/>
            </a:pPr>
            <a:r>
              <a:rPr lang="ko-KR" sz="850" dirty="0" b="1">
                <a:solidFill>
                  <a:srgbClr val="0066CC"/>
                </a:solidFill>
                <a:latin typeface="Aptos"/>
                <a:ea typeface="Aptos"/>
                <a:cs typeface="Aptos"/>
              </a:rPr>
              <a:t>UC-1</a:t>
            </a:r>
            <a:endParaRPr lang="ko-KR" sz="850"/>
          </a:p>
          <a:p>
            <a:pPr algn="l">
              <a:buNone/>
            </a:pPr>
            <a:r>
              <a:rPr lang="ko-KR" sz="1250" dirty="0" b="1">
                <a:solidFill>
                  <a:srgbClr val="1D1D1F"/>
                </a:solidFill>
                <a:latin typeface="Aptos"/>
                <a:ea typeface="Aptos"/>
                <a:cs typeface="Aptos"/>
              </a:rPr>
              <a:t>멀티 세션 업무 회고</a:t>
            </a:r>
            <a:endParaRPr lang="ko-KR" sz="1250"/>
          </a:p>
          <a:p>
            <a:pPr algn="l">
              <a:buNone/>
            </a:pPr>
            <a:r>
              <a:rPr lang="ko-KR" sz="969" dirty="0">
                <a:solidFill>
                  <a:srgbClr val="6E6E73"/>
                </a:solidFill>
                <a:latin typeface="Aptos"/>
                <a:ea typeface="Aptos"/>
                <a:cs typeface="Aptos"/>
              </a:rPr>
              <a:t>과거 여러 대화방과 문서를 묶어 프로젝트 이력 요약</a:t>
            </a:r>
            <a:endParaRPr lang="ko-KR" sz="969"/>
          </a:p>
        </p:txBody>
      </p:sp>
      <p:sp>
        <p:nvSpPr>
          <p:cNvPr id="8" name="사내 문서 질의응답"/>
          <p:cNvSpPr txBox="1"/>
          <p:nvPr/>
        </p:nvSpPr>
        <p:spPr>
          <a:xfrm>
            <a:off x="4434840" y="1664208"/>
            <a:ext cx="3401568" cy="9875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txBody>
          <a:bodyPr wrap="square" anchor="t" lIns="109728" tIns="109728" rIns="109728" bIns="109728"/>
          <a:lstStyle/>
          <a:p>
            <a:pPr algn="l">
              <a:buNone/>
            </a:pPr>
            <a:r>
              <a:rPr lang="ko-KR" sz="850" dirty="0" b="1">
                <a:solidFill>
                  <a:srgbClr val="0066CC"/>
                </a:solidFill>
                <a:latin typeface="Aptos"/>
                <a:ea typeface="Aptos"/>
                <a:cs typeface="Aptos"/>
              </a:rPr>
              <a:t>UC-2</a:t>
            </a:r>
            <a:endParaRPr lang="ko-KR" sz="850"/>
          </a:p>
          <a:p>
            <a:pPr algn="l">
              <a:buNone/>
            </a:pPr>
            <a:r>
              <a:rPr lang="ko-KR" sz="1250" dirty="0" b="1">
                <a:solidFill>
                  <a:srgbClr val="1D1D1F"/>
                </a:solidFill>
                <a:latin typeface="Aptos"/>
                <a:ea typeface="Aptos"/>
                <a:cs typeface="Aptos"/>
              </a:rPr>
              <a:t>사내 문서 질의응답</a:t>
            </a:r>
            <a:endParaRPr lang="ko-KR" sz="1250"/>
          </a:p>
          <a:p>
            <a:pPr algn="l">
              <a:buNone/>
            </a:pPr>
            <a:r>
              <a:rPr lang="ko-KR" sz="969" dirty="0">
                <a:solidFill>
                  <a:srgbClr val="6E6E73"/>
                </a:solidFill>
                <a:latin typeface="Aptos"/>
                <a:ea typeface="Aptos"/>
                <a:cs typeface="Aptos"/>
              </a:rPr>
              <a:t>규정, API, 운영 가이드를 공식 근거 기반으로 답변</a:t>
            </a:r>
            <a:endParaRPr lang="ko-KR" sz="969"/>
          </a:p>
        </p:txBody>
      </p:sp>
      <p:sp>
        <p:nvSpPr>
          <p:cNvPr id="9" name="그룹 채팅 지원"/>
          <p:cNvSpPr txBox="1"/>
          <p:nvPr/>
        </p:nvSpPr>
        <p:spPr>
          <a:xfrm>
            <a:off x="8211312" y="1664208"/>
            <a:ext cx="3401568" cy="9875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txBody>
          <a:bodyPr wrap="square" anchor="t" lIns="109728" tIns="109728" rIns="109728" bIns="109728"/>
          <a:lstStyle/>
          <a:p>
            <a:pPr algn="l">
              <a:buNone/>
            </a:pPr>
            <a:r>
              <a:rPr lang="ko-KR" sz="850" dirty="0" b="1">
                <a:solidFill>
                  <a:srgbClr val="0066CC"/>
                </a:solidFill>
                <a:latin typeface="Aptos"/>
                <a:ea typeface="Aptos"/>
                <a:cs typeface="Aptos"/>
              </a:rPr>
              <a:t>UC-3</a:t>
            </a:r>
            <a:endParaRPr lang="ko-KR" sz="850"/>
          </a:p>
          <a:p>
            <a:pPr algn="l">
              <a:buNone/>
            </a:pPr>
            <a:r>
              <a:rPr lang="ko-KR" sz="1250" dirty="0" b="1">
                <a:solidFill>
                  <a:srgbClr val="1D1D1F"/>
                </a:solidFill>
                <a:latin typeface="Aptos"/>
                <a:ea typeface="Aptos"/>
                <a:cs typeface="Aptos"/>
              </a:rPr>
              <a:t>그룹 채팅 지원</a:t>
            </a:r>
            <a:endParaRPr lang="ko-KR" sz="1250"/>
          </a:p>
          <a:p>
            <a:pPr algn="l">
              <a:buNone/>
            </a:pPr>
            <a:r>
              <a:rPr lang="ko-KR" sz="969" dirty="0">
                <a:solidFill>
                  <a:srgbClr val="6E6E73"/>
                </a:solidFill>
                <a:latin typeface="Aptos"/>
                <a:ea typeface="Aptos"/>
                <a:cs typeface="Aptos"/>
              </a:rPr>
              <a:t>참여자 모두에게 노출 가능한 정보만 사용</a:t>
            </a:r>
            <a:endParaRPr lang="ko-KR" sz="969"/>
          </a:p>
        </p:txBody>
      </p:sp>
      <p:sp>
        <p:nvSpPr>
          <p:cNvPr id="10" name="세션 참조 제어"/>
          <p:cNvSpPr txBox="1"/>
          <p:nvPr/>
        </p:nvSpPr>
        <p:spPr>
          <a:xfrm>
            <a:off x="658368" y="2889504"/>
            <a:ext cx="3401568" cy="9875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txBody>
          <a:bodyPr wrap="square" anchor="t" lIns="109728" tIns="109728" rIns="109728" bIns="109728"/>
          <a:lstStyle/>
          <a:p>
            <a:pPr algn="l">
              <a:buNone/>
            </a:pPr>
            <a:r>
              <a:rPr lang="ko-KR" sz="850" dirty="0" b="1">
                <a:solidFill>
                  <a:srgbClr val="0066CC"/>
                </a:solidFill>
                <a:latin typeface="Aptos"/>
                <a:ea typeface="Aptos"/>
                <a:cs typeface="Aptos"/>
              </a:rPr>
              <a:t>UC-4</a:t>
            </a:r>
            <a:endParaRPr lang="ko-KR" sz="850"/>
          </a:p>
          <a:p>
            <a:pPr algn="l">
              <a:buNone/>
            </a:pPr>
            <a:r>
              <a:rPr lang="ko-KR" sz="1250" dirty="0" b="1">
                <a:solidFill>
                  <a:srgbClr val="1D1D1F"/>
                </a:solidFill>
                <a:latin typeface="Aptos"/>
                <a:ea typeface="Aptos"/>
                <a:cs typeface="Aptos"/>
              </a:rPr>
              <a:t>세션 참조 제어</a:t>
            </a:r>
            <a:endParaRPr lang="ko-KR" sz="1250"/>
          </a:p>
          <a:p>
            <a:pPr algn="l">
              <a:buNone/>
            </a:pPr>
            <a:r>
              <a:rPr lang="ko-KR" sz="969" dirty="0">
                <a:solidFill>
                  <a:srgbClr val="6E6E73"/>
                </a:solidFill>
                <a:latin typeface="Aptos"/>
                <a:ea typeface="Aptos"/>
                <a:cs typeface="Aptos"/>
              </a:rPr>
              <a:t>대화방 단위 AI 참조 허용/차단 정책 반영</a:t>
            </a:r>
            <a:endParaRPr lang="ko-KR" sz="969"/>
          </a:p>
        </p:txBody>
      </p:sp>
      <p:sp>
        <p:nvSpPr>
          <p:cNvPr id="11" name="정보 충돌 판별"/>
          <p:cNvSpPr txBox="1"/>
          <p:nvPr/>
        </p:nvSpPr>
        <p:spPr>
          <a:xfrm>
            <a:off x="4434840" y="2889504"/>
            <a:ext cx="3401568" cy="9875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txBody>
          <a:bodyPr wrap="square" anchor="t" lIns="109728" tIns="109728" rIns="109728" bIns="109728"/>
          <a:lstStyle/>
          <a:p>
            <a:pPr algn="l">
              <a:buNone/>
            </a:pPr>
            <a:r>
              <a:rPr lang="ko-KR" sz="850" dirty="0" b="1">
                <a:solidFill>
                  <a:srgbClr val="0066CC"/>
                </a:solidFill>
                <a:latin typeface="Aptos"/>
                <a:ea typeface="Aptos"/>
                <a:cs typeface="Aptos"/>
              </a:rPr>
              <a:t>UC-5</a:t>
            </a:r>
            <a:endParaRPr lang="ko-KR" sz="850"/>
          </a:p>
          <a:p>
            <a:pPr algn="l">
              <a:buNone/>
            </a:pPr>
            <a:r>
              <a:rPr lang="ko-KR" sz="1250" dirty="0" b="1">
                <a:solidFill>
                  <a:srgbClr val="1D1D1F"/>
                </a:solidFill>
                <a:latin typeface="Aptos"/>
                <a:ea typeface="Aptos"/>
                <a:cs typeface="Aptos"/>
              </a:rPr>
              <a:t>정보 충돌 판별</a:t>
            </a:r>
            <a:endParaRPr lang="ko-KR" sz="1250"/>
          </a:p>
          <a:p>
            <a:pPr algn="l">
              <a:buNone/>
            </a:pPr>
            <a:r>
              <a:rPr lang="ko-KR" sz="969" dirty="0">
                <a:solidFill>
                  <a:srgbClr val="6E6E73"/>
                </a:solidFill>
                <a:latin typeface="Aptos"/>
                <a:ea typeface="Aptos"/>
                <a:cs typeface="Aptos"/>
              </a:rPr>
              <a:t>출처 신뢰도와 최신성 기준으로 상충 근거 설명</a:t>
            </a:r>
            <a:endParaRPr lang="ko-KR" sz="969"/>
          </a:p>
        </p:txBody>
      </p:sp>
      <p:sp>
        <p:nvSpPr>
          <p:cNvPr id="12" name="Offline 데이터 정제"/>
          <p:cNvSpPr txBox="1"/>
          <p:nvPr/>
        </p:nvSpPr>
        <p:spPr>
          <a:xfrm>
            <a:off x="8211312" y="2889504"/>
            <a:ext cx="3401568" cy="9875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txBody>
          <a:bodyPr wrap="square" anchor="t" lIns="109728" tIns="109728" rIns="109728" bIns="109728"/>
          <a:lstStyle/>
          <a:p>
            <a:pPr algn="l">
              <a:buNone/>
            </a:pPr>
            <a:r>
              <a:rPr lang="ko-KR" sz="850" dirty="0" b="1">
                <a:solidFill>
                  <a:srgbClr val="0066CC"/>
                </a:solidFill>
                <a:latin typeface="Aptos"/>
                <a:ea typeface="Aptos"/>
                <a:cs typeface="Aptos"/>
              </a:rPr>
              <a:t>UC-6</a:t>
            </a:r>
            <a:endParaRPr lang="ko-KR" sz="850"/>
          </a:p>
          <a:p>
            <a:pPr algn="l">
              <a:buNone/>
            </a:pPr>
            <a:r>
              <a:rPr lang="ko-KR" sz="1250" dirty="0" b="1">
                <a:solidFill>
                  <a:srgbClr val="1D1D1F"/>
                </a:solidFill>
                <a:latin typeface="Aptos"/>
                <a:ea typeface="Aptos"/>
                <a:cs typeface="Aptos"/>
              </a:rPr>
              <a:t>Offline 데이터 정제</a:t>
            </a:r>
            <a:endParaRPr lang="ko-KR" sz="1250"/>
          </a:p>
          <a:p>
            <a:pPr algn="l">
              <a:buNone/>
            </a:pPr>
            <a:r>
              <a:rPr lang="ko-KR" sz="969" dirty="0">
                <a:solidFill>
                  <a:srgbClr val="6E6E73"/>
                </a:solidFill>
                <a:latin typeface="Aptos"/>
                <a:ea typeface="Aptos"/>
                <a:cs typeface="Aptos"/>
              </a:rPr>
              <a:t>수집, 정규화, 중복 탐지, 대표 청크 생성, 인덱싱</a:t>
            </a:r>
            <a:endParaRPr lang="ko-KR" sz="969"/>
          </a:p>
        </p:txBody>
      </p:sp>
      <p:sp>
        <p:nvSpPr>
          <p:cNvPr id="13" name="Relations"/>
          <p:cNvSpPr txBox="1"/>
          <p:nvPr/>
        </p:nvSpPr>
        <p:spPr>
          <a:xfrm>
            <a:off x="658368" y="4443984"/>
            <a:ext cx="10771632" cy="914400"/>
          </a:xfrm>
          <a:prstGeom prst="roundRect">
            <a:avLst/>
          </a:prstGeom>
          <a:solidFill>
            <a:srgbClr val="F5F5F7"/>
          </a:solidFill>
          <a:ln w="9525">
            <a:solidFill>
              <a:srgbClr val="E0E0E0"/>
            </a:solidFill>
          </a:ln>
        </p:spPr>
        <p:txBody>
          <a:bodyPr wrap="square" anchor="t" lIns="164592" tIns="164592" rIns="164592" bIns="164592"/>
          <a:lstStyle/>
          <a:p>
            <a:pPr algn="l">
              <a:buNone/>
            </a:pPr>
            <a:r>
              <a:rPr lang="ko-KR" sz="1300" dirty="0" b="1">
                <a:solidFill>
                  <a:srgbClr val="1D1D1F"/>
                </a:solidFill>
                <a:latin typeface="Aptos"/>
                <a:ea typeface="Aptos"/>
                <a:cs typeface="Aptos"/>
              </a:rPr>
              <a:t>Use Case Relationship</a:t>
            </a:r>
            <a:endParaRPr lang="ko-KR" sz="1300"/>
          </a:p>
          <a:p>
            <a:pPr algn="l">
              <a:buNone/>
            </a:pPr>
            <a:r>
              <a:rPr lang="ko-KR" sz="1080" dirty="0">
                <a:solidFill>
                  <a:srgbClr val="6E6E73"/>
                </a:solidFill>
                <a:latin typeface="Aptos"/>
                <a:ea typeface="Aptos"/>
                <a:cs typeface="Aptos"/>
              </a:rPr>
              <a:t>UC-6은 Online Use Case의 기반 데이터 품질을 만든다. UC-4는 검색 가능 범위를 제어하고, UC-5는 UC-1/2/3 답변 생성 과정에서 공통으로 적용되는 판단 흐름이다.</a:t>
            </a:r>
            <a:endParaRPr lang="ko-KR" sz="1080"/>
          </a:p>
        </p:txBody>
      </p:sp>
      <p:sp>
        <p:nvSpPr>
          <p:cNvPr id="14" name="UC-6 Offline"/>
          <p:cNvSpPr txBox="1"/>
          <p:nvPr/>
        </p:nvSpPr>
        <p:spPr>
          <a:xfrm>
            <a:off x="1143000" y="5513832"/>
            <a:ext cx="1417320" cy="256032"/>
          </a:xfrm>
          <a:prstGeom prst="roundRect">
            <a:avLst/>
          </a:prstGeom>
          <a:solidFill>
            <a:srgbClr val="0066CC"/>
          </a:solidFill>
          <a:ln>
            <a:noFill/>
          </a:ln>
        </p:spPr>
        <p:txBody>
          <a:bodyPr wrap="square" anchor="ctr" lIns="0" tIns="0" rIns="0" bIns="0"/>
          <a:lstStyle/>
          <a:p>
            <a:pPr algn="ctr">
              <a:buNone/>
            </a:pPr>
            <a:r>
              <a:rPr lang="ko-KR" sz="850" dirty="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UC-6 Offline</a:t>
            </a:r>
            <a:endParaRPr lang="ko-KR" sz="850"/>
          </a:p>
        </p:txBody>
      </p:sp>
      <p:sp>
        <p:nvSpPr>
          <p:cNvPr id="15" name="Arrow"/>
          <p:cNvSpPr txBox="1"/>
          <p:nvPr/>
        </p:nvSpPr>
        <p:spPr>
          <a:xfrm>
            <a:off x="2670048" y="5504688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buNone/>
            </a:pPr>
            <a:r>
              <a:rPr lang="ko-KR" sz="1300" dirty="0" b="1">
                <a:solidFill>
                  <a:srgbClr val="0066CC"/>
                </a:solidFill>
                <a:latin typeface="Aptos"/>
                <a:ea typeface="Aptos"/>
                <a:cs typeface="Aptos"/>
              </a:rPr>
              <a:t>→</a:t>
            </a:r>
            <a:endParaRPr lang="ko-KR" sz="1300"/>
          </a:p>
        </p:txBody>
      </p:sp>
      <p:sp>
        <p:nvSpPr>
          <p:cNvPr id="16" name="UC-4 Policy"/>
          <p:cNvSpPr txBox="1"/>
          <p:nvPr/>
        </p:nvSpPr>
        <p:spPr>
          <a:xfrm>
            <a:off x="3474720" y="5513832"/>
            <a:ext cx="1417320" cy="256032"/>
          </a:xfrm>
          <a:prstGeom prst="roundRect">
            <a:avLst/>
          </a:prstGeom>
          <a:solidFill>
            <a:srgbClr val="0066CC"/>
          </a:solidFill>
          <a:ln>
            <a:noFill/>
          </a:ln>
        </p:spPr>
        <p:txBody>
          <a:bodyPr wrap="square" anchor="ctr" lIns="0" tIns="0" rIns="0" bIns="0"/>
          <a:lstStyle/>
          <a:p>
            <a:pPr algn="ctr">
              <a:buNone/>
            </a:pPr>
            <a:r>
              <a:rPr lang="ko-KR" sz="850" dirty="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UC-4 Policy</a:t>
            </a:r>
            <a:endParaRPr lang="ko-KR" sz="850"/>
          </a:p>
        </p:txBody>
      </p:sp>
      <p:sp>
        <p:nvSpPr>
          <p:cNvPr id="17" name="Arrow"/>
          <p:cNvSpPr txBox="1"/>
          <p:nvPr/>
        </p:nvSpPr>
        <p:spPr>
          <a:xfrm>
            <a:off x="5001768" y="5504688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buNone/>
            </a:pPr>
            <a:r>
              <a:rPr lang="ko-KR" sz="1300" dirty="0" b="1">
                <a:solidFill>
                  <a:srgbClr val="0066CC"/>
                </a:solidFill>
                <a:latin typeface="Aptos"/>
                <a:ea typeface="Aptos"/>
                <a:cs typeface="Aptos"/>
              </a:rPr>
              <a:t>→</a:t>
            </a:r>
            <a:endParaRPr lang="ko-KR" sz="1300"/>
          </a:p>
        </p:txBody>
      </p:sp>
      <p:sp>
        <p:nvSpPr>
          <p:cNvPr id="18" name="UC-1/2/3 Online"/>
          <p:cNvSpPr txBox="1"/>
          <p:nvPr/>
        </p:nvSpPr>
        <p:spPr>
          <a:xfrm>
            <a:off x="5806440" y="5513832"/>
            <a:ext cx="1417320" cy="256032"/>
          </a:xfrm>
          <a:prstGeom prst="roundRect">
            <a:avLst/>
          </a:prstGeom>
          <a:solidFill>
            <a:srgbClr val="0066CC"/>
          </a:solidFill>
          <a:ln>
            <a:noFill/>
          </a:ln>
        </p:spPr>
        <p:txBody>
          <a:bodyPr wrap="square" anchor="ctr" lIns="0" tIns="0" rIns="0" bIns="0"/>
          <a:lstStyle/>
          <a:p>
            <a:pPr algn="ctr">
              <a:buNone/>
            </a:pPr>
            <a:r>
              <a:rPr lang="ko-KR" sz="850" dirty="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UC-1/2/3 Online</a:t>
            </a:r>
            <a:endParaRPr lang="ko-KR" sz="850"/>
          </a:p>
        </p:txBody>
      </p:sp>
      <p:sp>
        <p:nvSpPr>
          <p:cNvPr id="19" name="Arrow"/>
          <p:cNvSpPr txBox="1"/>
          <p:nvPr/>
        </p:nvSpPr>
        <p:spPr>
          <a:xfrm>
            <a:off x="7333488" y="5504688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buNone/>
            </a:pPr>
            <a:r>
              <a:rPr lang="ko-KR" sz="1300" dirty="0" b="1">
                <a:solidFill>
                  <a:srgbClr val="0066CC"/>
                </a:solidFill>
                <a:latin typeface="Aptos"/>
                <a:ea typeface="Aptos"/>
                <a:cs typeface="Aptos"/>
              </a:rPr>
              <a:t>→</a:t>
            </a:r>
            <a:endParaRPr lang="ko-KR" sz="1300"/>
          </a:p>
        </p:txBody>
      </p:sp>
      <p:sp>
        <p:nvSpPr>
          <p:cNvPr id="20" name="UC-5 Conflict"/>
          <p:cNvSpPr txBox="1"/>
          <p:nvPr/>
        </p:nvSpPr>
        <p:spPr>
          <a:xfrm>
            <a:off x="8138159" y="5513832"/>
            <a:ext cx="1417320" cy="256032"/>
          </a:xfrm>
          <a:prstGeom prst="roundRect">
            <a:avLst/>
          </a:prstGeom>
          <a:solidFill>
            <a:srgbClr val="0066CC"/>
          </a:solidFill>
          <a:ln>
            <a:noFill/>
          </a:ln>
        </p:spPr>
        <p:txBody>
          <a:bodyPr wrap="square" anchor="ctr" lIns="0" tIns="0" rIns="0" bIns="0"/>
          <a:lstStyle/>
          <a:p>
            <a:pPr algn="ctr">
              <a:buNone/>
            </a:pPr>
            <a:r>
              <a:rPr lang="ko-KR" sz="850" dirty="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UC-5 Conflict</a:t>
            </a:r>
            <a:endParaRPr lang="ko-KR" sz="850"/>
          </a:p>
        </p:txBody>
      </p:sp>
      <p:sp>
        <p:nvSpPr>
          <p:cNvPr id="21" name="Footer"/>
          <p:cNvSpPr txBox="1"/>
          <p:nvPr/>
        </p:nvSpPr>
        <p:spPr>
          <a:xfrm>
            <a:off x="658368" y="6473952"/>
            <a:ext cx="54864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buNone/>
            </a:pPr>
            <a:r>
              <a:rPr lang="ko-KR" sz="850" dirty="0">
                <a:solidFill>
                  <a:srgbClr val="6E6E73"/>
                </a:solidFill>
                <a:latin typeface="Aptos"/>
                <a:ea typeface="Aptos"/>
                <a:cs typeface="Aptos"/>
              </a:rPr>
              <a:t>SPRAG 기반 사내 메신저 AI Assistant Architecture</a:t>
            </a:r>
            <a:endParaRPr lang="ko-KR" sz="850"/>
          </a:p>
        </p:txBody>
      </p:sp>
      <p:sp>
        <p:nvSpPr>
          <p:cNvPr id="22" name="PageNo"/>
          <p:cNvSpPr txBox="1"/>
          <p:nvPr/>
        </p:nvSpPr>
        <p:spPr>
          <a:xfrm>
            <a:off x="10835640" y="6473952"/>
            <a:ext cx="713232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r">
              <a:buNone/>
            </a:pPr>
            <a:r>
              <a:rPr lang="ko-KR" sz="850" dirty="0">
                <a:solidFill>
                  <a:srgbClr val="6E6E73"/>
                </a:solidFill>
                <a:latin typeface="Aptos"/>
                <a:ea typeface="Aptos"/>
                <a:cs typeface="Aptos"/>
              </a:rPr>
              <a:t>03/12</a:t>
            </a:r>
            <a:endParaRPr lang="ko-KR" sz="8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A2A2C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Chapter"/>
          <p:cNvSpPr txBox="1"/>
          <p:nvPr/>
        </p:nvSpPr>
        <p:spPr>
          <a:xfrm>
            <a:off x="658368" y="347472"/>
            <a:ext cx="310896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buNone/>
            </a:pPr>
            <a:r>
              <a:rPr lang="ko-KR" sz="1050" dirty="0" b="1">
                <a:solidFill>
                  <a:srgbClr val="2997FF"/>
                </a:solidFill>
                <a:latin typeface="Aptos"/>
                <a:ea typeface="Aptos"/>
                <a:cs typeface="Aptos"/>
              </a:rPr>
              <a:t>04 ARCHITECTURE</a:t>
            </a:r>
            <a:endParaRPr lang="ko-KR" sz="1050"/>
          </a:p>
        </p:txBody>
      </p:sp>
      <p:sp>
        <p:nvSpPr>
          <p:cNvPr id="5" name="Title"/>
          <p:cNvSpPr txBox="1"/>
          <p:nvPr/>
        </p:nvSpPr>
        <p:spPr>
          <a:xfrm>
            <a:off x="658368" y="658368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buNone/>
            </a:pPr>
            <a:r>
              <a:rPr lang="ko-KR" sz="2600" dirty="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SPRAG Pipeline View</a:t>
            </a:r>
            <a:endParaRPr lang="ko-KR" sz="2600"/>
          </a:p>
        </p:txBody>
      </p:sp>
      <p:sp>
        <p:nvSpPr>
          <p:cNvPr id="6" name="Subtitle"/>
          <p:cNvSpPr txBox="1"/>
          <p:nvPr/>
        </p:nvSpPr>
        <p:spPr>
          <a:xfrm>
            <a:off x="658368" y="1133856"/>
            <a:ext cx="969264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buNone/>
            </a:pPr>
            <a:r>
              <a:rPr lang="ko-KR" sz="1250" dirty="0">
                <a:solidFill>
                  <a:srgbClr val="CCCCCC"/>
                </a:solidFill>
                <a:latin typeface="Aptos"/>
                <a:ea typeface="Aptos"/>
                <a:cs typeface="Aptos"/>
              </a:rPr>
              <a:t>Offline 정제와 Online Retrieval을 분리하여 정확성, 보안성, 응답성을 함께 확보한다.</a:t>
            </a:r>
            <a:endParaRPr lang="ko-KR" sz="1250"/>
          </a:p>
        </p:txBody>
      </p:sp>
      <p:sp>
        <p:nvSpPr>
          <p:cNvPr id="7" name="Offline SPRAG Pipeline"/>
          <p:cNvSpPr txBox="1"/>
          <p:nvPr/>
        </p:nvSpPr>
        <p:spPr>
          <a:xfrm>
            <a:off x="658368" y="1691640"/>
            <a:ext cx="10771632" cy="1691640"/>
          </a:xfrm>
          <a:prstGeom prst="roundRect">
            <a:avLst/>
          </a:prstGeom>
          <a:solidFill>
            <a:srgbClr val="333336"/>
          </a:solidFill>
          <a:ln w="9525">
            <a:solidFill>
              <a:srgbClr val="56565A"/>
            </a:solidFill>
          </a:ln>
        </p:spPr>
        <p:txBody>
          <a:bodyPr wrap="square" anchor="t" lIns="128016" tIns="128016" rIns="128016" bIns="128016"/>
          <a:lstStyle/>
          <a:p>
            <a:pPr algn="l">
              <a:buNone/>
            </a:pPr>
            <a:r>
              <a:rPr lang="ko-KR" sz="1350" dirty="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Offline SPRAG Pipeline</a:t>
            </a:r>
            <a:endParaRPr lang="ko-KR" sz="1350"/>
          </a:p>
        </p:txBody>
      </p:sp>
      <p:sp>
        <p:nvSpPr>
          <p:cNvPr id="8" name="Online Retrieval Pipeline"/>
          <p:cNvSpPr txBox="1"/>
          <p:nvPr/>
        </p:nvSpPr>
        <p:spPr>
          <a:xfrm>
            <a:off x="658368" y="4069080"/>
            <a:ext cx="10771632" cy="1691640"/>
          </a:xfrm>
          <a:prstGeom prst="roundRect">
            <a:avLst/>
          </a:prstGeom>
          <a:solidFill>
            <a:srgbClr val="3A3A3D"/>
          </a:solidFill>
          <a:ln w="9525">
            <a:solidFill>
              <a:srgbClr val="56565A"/>
            </a:solidFill>
          </a:ln>
        </p:spPr>
        <p:txBody>
          <a:bodyPr wrap="square" anchor="t" lIns="128016" tIns="128016" rIns="128016" bIns="128016"/>
          <a:lstStyle/>
          <a:p>
            <a:pPr algn="l">
              <a:buNone/>
            </a:pPr>
            <a:r>
              <a:rPr lang="ko-KR" sz="1350" dirty="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Online Retrieval Pipeline</a:t>
            </a:r>
            <a:endParaRPr lang="ko-KR" sz="1350"/>
          </a:p>
        </p:txBody>
      </p:sp>
      <p:sp>
        <p:nvSpPr>
          <p:cNvPr id="9" name="Collect"/>
          <p:cNvSpPr txBox="1"/>
          <p:nvPr/>
        </p:nvSpPr>
        <p:spPr>
          <a:xfrm>
            <a:off x="914400" y="2240280"/>
            <a:ext cx="1481328" cy="585216"/>
          </a:xfrm>
          <a:prstGeom prst="roundRect">
            <a:avLst/>
          </a:prstGeom>
          <a:solidFill>
            <a:srgbClr val="252527"/>
          </a:solidFill>
          <a:ln w="9525">
            <a:solidFill>
              <a:srgbClr val="56565A"/>
            </a:solidFill>
          </a:ln>
        </p:spPr>
        <p:txBody>
          <a:bodyPr wrap="square" anchor="ctr" lIns="45720" tIns="45720" rIns="45720" bIns="45720"/>
          <a:lstStyle/>
          <a:p>
            <a:pPr algn="ctr">
              <a:buNone/>
            </a:pPr>
            <a:r>
              <a:rPr lang="ko-KR" sz="1100" dirty="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Collect</a:t>
            </a:r>
            <a:endParaRPr lang="ko-KR" sz="1100"/>
          </a:p>
          <a:p>
            <a:pPr algn="ctr">
              <a:buNone/>
            </a:pPr>
            <a:r>
              <a:rPr lang="ko-KR" sz="819" dirty="0">
                <a:solidFill>
                  <a:srgbClr val="CCCCCC"/>
                </a:solidFill>
                <a:latin typeface="Aptos"/>
                <a:ea typeface="Aptos"/>
                <a:cs typeface="Aptos"/>
              </a:rPr>
              <a:t>원본 수집</a:t>
            </a:r>
            <a:endParaRPr lang="ko-KR" sz="819"/>
          </a:p>
        </p:txBody>
      </p:sp>
      <p:sp>
        <p:nvSpPr>
          <p:cNvPr id="10" name="Arrow"/>
          <p:cNvSpPr txBox="1"/>
          <p:nvPr/>
        </p:nvSpPr>
        <p:spPr>
          <a:xfrm>
            <a:off x="2423160" y="2404872"/>
            <a:ext cx="347472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buNone/>
            </a:pPr>
            <a:r>
              <a:rPr lang="ko-KR" sz="1300" dirty="0" b="1">
                <a:solidFill>
                  <a:srgbClr val="2997FF"/>
                </a:solidFill>
                <a:latin typeface="Aptos"/>
                <a:ea typeface="Aptos"/>
                <a:cs typeface="Aptos"/>
              </a:rPr>
              <a:t>→</a:t>
            </a:r>
            <a:endParaRPr lang="ko-KR" sz="1300"/>
          </a:p>
        </p:txBody>
      </p:sp>
      <p:sp>
        <p:nvSpPr>
          <p:cNvPr id="11" name="Normalize"/>
          <p:cNvSpPr txBox="1"/>
          <p:nvPr/>
        </p:nvSpPr>
        <p:spPr>
          <a:xfrm>
            <a:off x="2962656" y="2240280"/>
            <a:ext cx="1481328" cy="585216"/>
          </a:xfrm>
          <a:prstGeom prst="roundRect">
            <a:avLst/>
          </a:prstGeom>
          <a:solidFill>
            <a:srgbClr val="252527"/>
          </a:solidFill>
          <a:ln w="9525">
            <a:solidFill>
              <a:srgbClr val="56565A"/>
            </a:solidFill>
          </a:ln>
        </p:spPr>
        <p:txBody>
          <a:bodyPr wrap="square" anchor="ctr" lIns="45720" tIns="45720" rIns="45720" bIns="45720"/>
          <a:lstStyle/>
          <a:p>
            <a:pPr algn="ctr">
              <a:buNone/>
            </a:pPr>
            <a:r>
              <a:rPr lang="ko-KR" sz="1100" dirty="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Normalize</a:t>
            </a:r>
            <a:endParaRPr lang="ko-KR" sz="1100"/>
          </a:p>
          <a:p>
            <a:pPr algn="ctr">
              <a:buNone/>
            </a:pPr>
            <a:r>
              <a:rPr lang="ko-KR" sz="819" dirty="0">
                <a:solidFill>
                  <a:srgbClr val="CCCCCC"/>
                </a:solidFill>
                <a:latin typeface="Aptos"/>
                <a:ea typeface="Aptos"/>
                <a:cs typeface="Aptos"/>
              </a:rPr>
              <a:t>정규화/마스킹</a:t>
            </a:r>
            <a:endParaRPr lang="ko-KR" sz="819"/>
          </a:p>
        </p:txBody>
      </p:sp>
      <p:sp>
        <p:nvSpPr>
          <p:cNvPr id="12" name="Arrow"/>
          <p:cNvSpPr txBox="1"/>
          <p:nvPr/>
        </p:nvSpPr>
        <p:spPr>
          <a:xfrm>
            <a:off x="4471416" y="2404872"/>
            <a:ext cx="347472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buNone/>
            </a:pPr>
            <a:r>
              <a:rPr lang="ko-KR" sz="1300" dirty="0" b="1">
                <a:solidFill>
                  <a:srgbClr val="2997FF"/>
                </a:solidFill>
                <a:latin typeface="Aptos"/>
                <a:ea typeface="Aptos"/>
                <a:cs typeface="Aptos"/>
              </a:rPr>
              <a:t>→</a:t>
            </a:r>
            <a:endParaRPr lang="ko-KR" sz="1300"/>
          </a:p>
        </p:txBody>
      </p:sp>
      <p:sp>
        <p:nvSpPr>
          <p:cNvPr id="13" name="SPRAG"/>
          <p:cNvSpPr txBox="1"/>
          <p:nvPr/>
        </p:nvSpPr>
        <p:spPr>
          <a:xfrm>
            <a:off x="5010912" y="2240280"/>
            <a:ext cx="1481328" cy="585216"/>
          </a:xfrm>
          <a:prstGeom prst="roundRect">
            <a:avLst/>
          </a:prstGeom>
          <a:solidFill>
            <a:srgbClr val="252527"/>
          </a:solidFill>
          <a:ln w="9525">
            <a:solidFill>
              <a:srgbClr val="56565A"/>
            </a:solidFill>
          </a:ln>
        </p:spPr>
        <p:txBody>
          <a:bodyPr wrap="square" anchor="ctr" lIns="45720" tIns="45720" rIns="45720" bIns="45720"/>
          <a:lstStyle/>
          <a:p>
            <a:pPr algn="ctr">
              <a:buNone/>
            </a:pPr>
            <a:r>
              <a:rPr lang="ko-KR" sz="1100" dirty="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SPRAG</a:t>
            </a:r>
            <a:endParaRPr lang="ko-KR" sz="1100"/>
          </a:p>
          <a:p>
            <a:pPr algn="ctr">
              <a:buNone/>
            </a:pPr>
            <a:r>
              <a:rPr lang="ko-KR" sz="819" dirty="0">
                <a:solidFill>
                  <a:srgbClr val="CCCCCC"/>
                </a:solidFill>
                <a:latin typeface="Aptos"/>
                <a:ea typeface="Aptos"/>
                <a:cs typeface="Aptos"/>
              </a:rPr>
              <a:t>중복 탐지/대표화</a:t>
            </a:r>
            <a:endParaRPr lang="ko-KR" sz="819"/>
          </a:p>
        </p:txBody>
      </p:sp>
      <p:sp>
        <p:nvSpPr>
          <p:cNvPr id="14" name="Arrow"/>
          <p:cNvSpPr txBox="1"/>
          <p:nvPr/>
        </p:nvSpPr>
        <p:spPr>
          <a:xfrm>
            <a:off x="6519672" y="2404872"/>
            <a:ext cx="347472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buNone/>
            </a:pPr>
            <a:r>
              <a:rPr lang="ko-KR" sz="1300" dirty="0" b="1">
                <a:solidFill>
                  <a:srgbClr val="2997FF"/>
                </a:solidFill>
                <a:latin typeface="Aptos"/>
                <a:ea typeface="Aptos"/>
                <a:cs typeface="Aptos"/>
              </a:rPr>
              <a:t>→</a:t>
            </a:r>
            <a:endParaRPr lang="ko-KR" sz="1300"/>
          </a:p>
        </p:txBody>
      </p:sp>
      <p:sp>
        <p:nvSpPr>
          <p:cNvPr id="15" name="Metadata"/>
          <p:cNvSpPr txBox="1"/>
          <p:nvPr/>
        </p:nvSpPr>
        <p:spPr>
          <a:xfrm>
            <a:off x="7059168" y="2240280"/>
            <a:ext cx="1481328" cy="585216"/>
          </a:xfrm>
          <a:prstGeom prst="roundRect">
            <a:avLst/>
          </a:prstGeom>
          <a:solidFill>
            <a:srgbClr val="252527"/>
          </a:solidFill>
          <a:ln w="9525">
            <a:solidFill>
              <a:srgbClr val="56565A"/>
            </a:solidFill>
          </a:ln>
        </p:spPr>
        <p:txBody>
          <a:bodyPr wrap="square" anchor="ctr" lIns="45720" tIns="45720" rIns="45720" bIns="45720"/>
          <a:lstStyle/>
          <a:p>
            <a:pPr algn="ctr">
              <a:buNone/>
            </a:pPr>
            <a:r>
              <a:rPr lang="ko-KR" sz="1100" dirty="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Metadata</a:t>
            </a:r>
            <a:endParaRPr lang="ko-KR" sz="1100"/>
          </a:p>
          <a:p>
            <a:pPr algn="ctr">
              <a:buNone/>
            </a:pPr>
            <a:r>
              <a:rPr lang="ko-KR" sz="819" dirty="0">
                <a:solidFill>
                  <a:srgbClr val="CCCCCC"/>
                </a:solidFill>
                <a:latin typeface="Aptos"/>
                <a:ea typeface="Aptos"/>
                <a:cs typeface="Aptos"/>
              </a:rPr>
              <a:t>권한/출처/최신성</a:t>
            </a:r>
            <a:endParaRPr lang="ko-KR" sz="819"/>
          </a:p>
        </p:txBody>
      </p:sp>
      <p:sp>
        <p:nvSpPr>
          <p:cNvPr id="16" name="Arrow"/>
          <p:cNvSpPr txBox="1"/>
          <p:nvPr/>
        </p:nvSpPr>
        <p:spPr>
          <a:xfrm>
            <a:off x="8567928" y="2404872"/>
            <a:ext cx="347472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buNone/>
            </a:pPr>
            <a:r>
              <a:rPr lang="ko-KR" sz="1300" dirty="0" b="1">
                <a:solidFill>
                  <a:srgbClr val="2997FF"/>
                </a:solidFill>
                <a:latin typeface="Aptos"/>
                <a:ea typeface="Aptos"/>
                <a:cs typeface="Aptos"/>
              </a:rPr>
              <a:t>→</a:t>
            </a:r>
            <a:endParaRPr lang="ko-KR" sz="1300"/>
          </a:p>
        </p:txBody>
      </p:sp>
      <p:sp>
        <p:nvSpPr>
          <p:cNvPr id="17" name="Index"/>
          <p:cNvSpPr txBox="1"/>
          <p:nvPr/>
        </p:nvSpPr>
        <p:spPr>
          <a:xfrm>
            <a:off x="9107424" y="2240280"/>
            <a:ext cx="1481328" cy="585216"/>
          </a:xfrm>
          <a:prstGeom prst="roundRect">
            <a:avLst/>
          </a:prstGeom>
          <a:solidFill>
            <a:srgbClr val="252527"/>
          </a:solidFill>
          <a:ln w="9525">
            <a:solidFill>
              <a:srgbClr val="56565A"/>
            </a:solidFill>
          </a:ln>
        </p:spPr>
        <p:txBody>
          <a:bodyPr wrap="square" anchor="ctr" lIns="45720" tIns="45720" rIns="45720" bIns="45720"/>
          <a:lstStyle/>
          <a:p>
            <a:pPr algn="ctr">
              <a:buNone/>
            </a:pPr>
            <a:r>
              <a:rPr lang="ko-KR" sz="1100" dirty="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Index</a:t>
            </a:r>
            <a:endParaRPr lang="ko-KR" sz="1100"/>
          </a:p>
          <a:p>
            <a:pPr algn="ctr">
              <a:buNone/>
            </a:pPr>
            <a:r>
              <a:rPr lang="ko-KR" sz="819" dirty="0">
                <a:solidFill>
                  <a:srgbClr val="CCCCCC"/>
                </a:solidFill>
                <a:latin typeface="Aptos"/>
                <a:ea typeface="Aptos"/>
                <a:cs typeface="Aptos"/>
              </a:rPr>
              <a:t>Vector DB</a:t>
            </a:r>
            <a:endParaRPr lang="ko-KR" sz="819"/>
          </a:p>
        </p:txBody>
      </p:sp>
      <p:sp>
        <p:nvSpPr>
          <p:cNvPr id="18" name="Query"/>
          <p:cNvSpPr txBox="1"/>
          <p:nvPr/>
        </p:nvSpPr>
        <p:spPr>
          <a:xfrm>
            <a:off x="914400" y="4617720"/>
            <a:ext cx="1481328" cy="585216"/>
          </a:xfrm>
          <a:prstGeom prst="roundRect">
            <a:avLst/>
          </a:prstGeom>
          <a:solidFill>
            <a:srgbClr val="252527"/>
          </a:solidFill>
          <a:ln w="9525">
            <a:solidFill>
              <a:srgbClr val="56565A"/>
            </a:solidFill>
          </a:ln>
        </p:spPr>
        <p:txBody>
          <a:bodyPr wrap="square" anchor="ctr" lIns="45720" tIns="45720" rIns="45720" bIns="45720"/>
          <a:lstStyle/>
          <a:p>
            <a:pPr algn="ctr">
              <a:buNone/>
            </a:pPr>
            <a:r>
              <a:rPr lang="ko-KR" sz="1100" dirty="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Query</a:t>
            </a:r>
            <a:endParaRPr lang="ko-KR" sz="1100"/>
          </a:p>
          <a:p>
            <a:pPr algn="ctr">
              <a:buNone/>
            </a:pPr>
            <a:r>
              <a:rPr lang="ko-KR" sz="819" dirty="0">
                <a:solidFill>
                  <a:srgbClr val="CCCCCC"/>
                </a:solidFill>
                <a:latin typeface="Aptos"/>
                <a:ea typeface="Aptos"/>
                <a:cs typeface="Aptos"/>
              </a:rPr>
              <a:t>질의+세션</a:t>
            </a:r>
            <a:endParaRPr lang="ko-KR" sz="819"/>
          </a:p>
        </p:txBody>
      </p:sp>
      <p:sp>
        <p:nvSpPr>
          <p:cNvPr id="19" name="Arrow"/>
          <p:cNvSpPr txBox="1"/>
          <p:nvPr/>
        </p:nvSpPr>
        <p:spPr>
          <a:xfrm>
            <a:off x="2423160" y="4782312"/>
            <a:ext cx="347472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buNone/>
            </a:pPr>
            <a:r>
              <a:rPr lang="ko-KR" sz="1300" dirty="0" b="1">
                <a:solidFill>
                  <a:srgbClr val="2997FF"/>
                </a:solidFill>
                <a:latin typeface="Aptos"/>
                <a:ea typeface="Aptos"/>
                <a:cs typeface="Aptos"/>
              </a:rPr>
              <a:t>→</a:t>
            </a:r>
            <a:endParaRPr lang="ko-KR" sz="1300"/>
          </a:p>
        </p:txBody>
      </p:sp>
      <p:sp>
        <p:nvSpPr>
          <p:cNvPr id="20" name="Policy"/>
          <p:cNvSpPr txBox="1"/>
          <p:nvPr/>
        </p:nvSpPr>
        <p:spPr>
          <a:xfrm>
            <a:off x="2962656" y="4617720"/>
            <a:ext cx="1481328" cy="585216"/>
          </a:xfrm>
          <a:prstGeom prst="roundRect">
            <a:avLst/>
          </a:prstGeom>
          <a:solidFill>
            <a:srgbClr val="252527"/>
          </a:solidFill>
          <a:ln w="9525">
            <a:solidFill>
              <a:srgbClr val="56565A"/>
            </a:solidFill>
          </a:ln>
        </p:spPr>
        <p:txBody>
          <a:bodyPr wrap="square" anchor="ctr" lIns="45720" tIns="45720" rIns="45720" bIns="45720"/>
          <a:lstStyle/>
          <a:p>
            <a:pPr algn="ctr">
              <a:buNone/>
            </a:pPr>
            <a:r>
              <a:rPr lang="ko-KR" sz="1100" dirty="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Policy</a:t>
            </a:r>
            <a:endParaRPr lang="ko-KR" sz="1100"/>
          </a:p>
          <a:p>
            <a:pPr algn="ctr">
              <a:buNone/>
            </a:pPr>
            <a:r>
              <a:rPr lang="ko-KR" sz="819" dirty="0">
                <a:solidFill>
                  <a:srgbClr val="CCCCCC"/>
                </a:solidFill>
                <a:latin typeface="Aptos"/>
                <a:ea typeface="Aptos"/>
                <a:cs typeface="Aptos"/>
              </a:rPr>
              <a:t>ACL/Opt-in</a:t>
            </a:r>
            <a:endParaRPr lang="ko-KR" sz="819"/>
          </a:p>
        </p:txBody>
      </p:sp>
      <p:sp>
        <p:nvSpPr>
          <p:cNvPr id="21" name="Arrow"/>
          <p:cNvSpPr txBox="1"/>
          <p:nvPr/>
        </p:nvSpPr>
        <p:spPr>
          <a:xfrm>
            <a:off x="4471416" y="4782312"/>
            <a:ext cx="347472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buNone/>
            </a:pPr>
            <a:r>
              <a:rPr lang="ko-KR" sz="1300" dirty="0" b="1">
                <a:solidFill>
                  <a:srgbClr val="2997FF"/>
                </a:solidFill>
                <a:latin typeface="Aptos"/>
                <a:ea typeface="Aptos"/>
                <a:cs typeface="Aptos"/>
              </a:rPr>
              <a:t>→</a:t>
            </a:r>
            <a:endParaRPr lang="ko-KR" sz="1300"/>
          </a:p>
        </p:txBody>
      </p:sp>
      <p:sp>
        <p:nvSpPr>
          <p:cNvPr id="22" name="Retrieve"/>
          <p:cNvSpPr txBox="1"/>
          <p:nvPr/>
        </p:nvSpPr>
        <p:spPr>
          <a:xfrm>
            <a:off x="5010912" y="4617720"/>
            <a:ext cx="1481328" cy="585216"/>
          </a:xfrm>
          <a:prstGeom prst="roundRect">
            <a:avLst/>
          </a:prstGeom>
          <a:solidFill>
            <a:srgbClr val="252527"/>
          </a:solidFill>
          <a:ln w="9525">
            <a:solidFill>
              <a:srgbClr val="56565A"/>
            </a:solidFill>
          </a:ln>
        </p:spPr>
        <p:txBody>
          <a:bodyPr wrap="square" anchor="ctr" lIns="45720" tIns="45720" rIns="45720" bIns="45720"/>
          <a:lstStyle/>
          <a:p>
            <a:pPr algn="ctr">
              <a:buNone/>
            </a:pPr>
            <a:r>
              <a:rPr lang="ko-KR" sz="1100" dirty="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Retrieve</a:t>
            </a:r>
            <a:endParaRPr lang="ko-KR" sz="1100"/>
          </a:p>
          <a:p>
            <a:pPr algn="ctr">
              <a:buNone/>
            </a:pPr>
            <a:r>
              <a:rPr lang="ko-KR" sz="819" dirty="0">
                <a:solidFill>
                  <a:srgbClr val="CCCCCC"/>
                </a:solidFill>
                <a:latin typeface="Aptos"/>
                <a:ea typeface="Aptos"/>
                <a:cs typeface="Aptos"/>
              </a:rPr>
              <a:t>Vector+Filter</a:t>
            </a:r>
            <a:endParaRPr lang="ko-KR" sz="819"/>
          </a:p>
        </p:txBody>
      </p:sp>
      <p:sp>
        <p:nvSpPr>
          <p:cNvPr id="23" name="Arrow"/>
          <p:cNvSpPr txBox="1"/>
          <p:nvPr/>
        </p:nvSpPr>
        <p:spPr>
          <a:xfrm>
            <a:off x="6519672" y="4782312"/>
            <a:ext cx="347472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buNone/>
            </a:pPr>
            <a:r>
              <a:rPr lang="ko-KR" sz="1300" dirty="0" b="1">
                <a:solidFill>
                  <a:srgbClr val="2997FF"/>
                </a:solidFill>
                <a:latin typeface="Aptos"/>
                <a:ea typeface="Aptos"/>
                <a:cs typeface="Aptos"/>
              </a:rPr>
              <a:t>→</a:t>
            </a:r>
            <a:endParaRPr lang="ko-KR" sz="1300"/>
          </a:p>
        </p:txBody>
      </p:sp>
      <p:sp>
        <p:nvSpPr>
          <p:cNvPr id="24" name="Rerank"/>
          <p:cNvSpPr txBox="1"/>
          <p:nvPr/>
        </p:nvSpPr>
        <p:spPr>
          <a:xfrm>
            <a:off x="7059168" y="4617720"/>
            <a:ext cx="1481328" cy="585216"/>
          </a:xfrm>
          <a:prstGeom prst="roundRect">
            <a:avLst/>
          </a:prstGeom>
          <a:solidFill>
            <a:srgbClr val="252527"/>
          </a:solidFill>
          <a:ln w="9525">
            <a:solidFill>
              <a:srgbClr val="56565A"/>
            </a:solidFill>
          </a:ln>
        </p:spPr>
        <p:txBody>
          <a:bodyPr wrap="square" anchor="ctr" lIns="45720" tIns="45720" rIns="45720" bIns="45720"/>
          <a:lstStyle/>
          <a:p>
            <a:pPr algn="ctr">
              <a:buNone/>
            </a:pPr>
            <a:r>
              <a:rPr lang="ko-KR" sz="1100" dirty="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Rerank</a:t>
            </a:r>
            <a:endParaRPr lang="ko-KR" sz="1100"/>
          </a:p>
          <a:p>
            <a:pPr algn="ctr">
              <a:buNone/>
            </a:pPr>
            <a:r>
              <a:rPr lang="ko-KR" sz="819" dirty="0">
                <a:solidFill>
                  <a:srgbClr val="CCCCCC"/>
                </a:solidFill>
                <a:latin typeface="Aptos"/>
                <a:ea typeface="Aptos"/>
                <a:cs typeface="Aptos"/>
              </a:rPr>
              <a:t>Top-K</a:t>
            </a:r>
            <a:endParaRPr lang="ko-KR" sz="819"/>
          </a:p>
        </p:txBody>
      </p:sp>
      <p:sp>
        <p:nvSpPr>
          <p:cNvPr id="25" name="Arrow"/>
          <p:cNvSpPr txBox="1"/>
          <p:nvPr/>
        </p:nvSpPr>
        <p:spPr>
          <a:xfrm>
            <a:off x="8567928" y="4782312"/>
            <a:ext cx="347472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buNone/>
            </a:pPr>
            <a:r>
              <a:rPr lang="ko-KR" sz="1300" dirty="0" b="1">
                <a:solidFill>
                  <a:srgbClr val="2997FF"/>
                </a:solidFill>
                <a:latin typeface="Aptos"/>
                <a:ea typeface="Aptos"/>
                <a:cs typeface="Aptos"/>
              </a:rPr>
              <a:t>→</a:t>
            </a:r>
            <a:endParaRPr lang="ko-KR" sz="1300"/>
          </a:p>
        </p:txBody>
      </p:sp>
      <p:sp>
        <p:nvSpPr>
          <p:cNvPr id="26" name="Answer"/>
          <p:cNvSpPr txBox="1"/>
          <p:nvPr/>
        </p:nvSpPr>
        <p:spPr>
          <a:xfrm>
            <a:off x="9107424" y="4617720"/>
            <a:ext cx="1481328" cy="585216"/>
          </a:xfrm>
          <a:prstGeom prst="roundRect">
            <a:avLst/>
          </a:prstGeom>
          <a:solidFill>
            <a:srgbClr val="252527"/>
          </a:solidFill>
          <a:ln w="9525">
            <a:solidFill>
              <a:srgbClr val="56565A"/>
            </a:solidFill>
          </a:ln>
        </p:spPr>
        <p:txBody>
          <a:bodyPr wrap="square" anchor="ctr" lIns="45720" tIns="45720" rIns="45720" bIns="45720"/>
          <a:lstStyle/>
          <a:p>
            <a:pPr algn="ctr">
              <a:buNone/>
            </a:pPr>
            <a:r>
              <a:rPr lang="ko-KR" sz="1100" dirty="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Answer</a:t>
            </a:r>
            <a:endParaRPr lang="ko-KR" sz="1100"/>
          </a:p>
          <a:p>
            <a:pPr algn="ctr">
              <a:buNone/>
            </a:pPr>
            <a:r>
              <a:rPr lang="ko-KR" sz="819" dirty="0">
                <a:solidFill>
                  <a:srgbClr val="CCCCCC"/>
                </a:solidFill>
                <a:latin typeface="Aptos"/>
                <a:ea typeface="Aptos"/>
                <a:cs typeface="Aptos"/>
              </a:rPr>
              <a:t>LLM+출처</a:t>
            </a:r>
            <a:endParaRPr lang="ko-KR" sz="819"/>
          </a:p>
        </p:txBody>
      </p:sp>
      <p:sp>
        <p:nvSpPr>
          <p:cNvPr id="27" name="Principle"/>
          <p:cNvSpPr txBox="1"/>
          <p:nvPr/>
        </p:nvSpPr>
        <p:spPr>
          <a:xfrm>
            <a:off x="658368" y="5879592"/>
            <a:ext cx="10771632" cy="40233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buNone/>
            </a:pPr>
            <a:r>
              <a:rPr lang="ko-KR" sz="1030" dirty="0">
                <a:solidFill>
                  <a:srgbClr val="CCCCCC"/>
                </a:solidFill>
                <a:latin typeface="Aptos"/>
                <a:ea typeface="Aptos"/>
                <a:cs typeface="Aptos"/>
              </a:rPr>
              <a:t>Design Principle: 고비용·고변동 데이터 정제는 Offline으로 격리하고, Online은 권한 검증·검색·리랭킹·컨텍스트 조립에 집중한다.</a:t>
            </a:r>
            <a:endParaRPr lang="ko-KR" sz="1030"/>
          </a:p>
        </p:txBody>
      </p:sp>
      <p:sp>
        <p:nvSpPr>
          <p:cNvPr id="28" name="Footer"/>
          <p:cNvSpPr txBox="1"/>
          <p:nvPr/>
        </p:nvSpPr>
        <p:spPr>
          <a:xfrm>
            <a:off x="658368" y="6473952"/>
            <a:ext cx="54864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buNone/>
            </a:pPr>
            <a:r>
              <a:rPr lang="ko-KR" sz="850" dirty="0">
                <a:solidFill>
                  <a:srgbClr val="CCCCCC"/>
                </a:solidFill>
                <a:latin typeface="Aptos"/>
                <a:ea typeface="Aptos"/>
                <a:cs typeface="Aptos"/>
              </a:rPr>
              <a:t>SPRAG 기반 사내 메신저 AI Assistant Architecture</a:t>
            </a:r>
            <a:endParaRPr lang="ko-KR" sz="850"/>
          </a:p>
        </p:txBody>
      </p:sp>
      <p:sp>
        <p:nvSpPr>
          <p:cNvPr id="29" name="PageNo"/>
          <p:cNvSpPr txBox="1"/>
          <p:nvPr/>
        </p:nvSpPr>
        <p:spPr>
          <a:xfrm>
            <a:off x="10835640" y="6473952"/>
            <a:ext cx="713232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r">
              <a:buNone/>
            </a:pPr>
            <a:r>
              <a:rPr lang="ko-KR" sz="850" dirty="0">
                <a:solidFill>
                  <a:srgbClr val="CCCCCC"/>
                </a:solidFill>
                <a:latin typeface="Aptos"/>
                <a:ea typeface="Aptos"/>
                <a:cs typeface="Aptos"/>
              </a:rPr>
              <a:t>04/12</a:t>
            </a:r>
            <a:endParaRPr lang="ko-KR" sz="85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Chapter"/>
          <p:cNvSpPr txBox="1"/>
          <p:nvPr/>
        </p:nvSpPr>
        <p:spPr>
          <a:xfrm>
            <a:off x="658368" y="347472"/>
            <a:ext cx="310896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buNone/>
            </a:pPr>
            <a:r>
              <a:rPr lang="ko-KR" sz="1050" dirty="0" b="1">
                <a:solidFill>
                  <a:srgbClr val="0066CC"/>
                </a:solidFill>
                <a:latin typeface="Aptos"/>
                <a:ea typeface="Aptos"/>
                <a:cs typeface="Aptos"/>
              </a:rPr>
              <a:t>05 REQUIREMENTS</a:t>
            </a:r>
            <a:endParaRPr lang="ko-KR" sz="1050"/>
          </a:p>
        </p:txBody>
      </p:sp>
      <p:sp>
        <p:nvSpPr>
          <p:cNvPr id="5" name="Title"/>
          <p:cNvSpPr txBox="1"/>
          <p:nvPr/>
        </p:nvSpPr>
        <p:spPr>
          <a:xfrm>
            <a:off x="658368" y="658368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buNone/>
            </a:pPr>
            <a:r>
              <a:rPr lang="ko-KR" sz="2600" dirty="0" b="1">
                <a:solidFill>
                  <a:srgbClr val="1D1D1F"/>
                </a:solidFill>
                <a:latin typeface="Aptos"/>
                <a:ea typeface="Aptos"/>
                <a:cs typeface="Aptos"/>
              </a:rPr>
              <a:t>Functional Requirements</a:t>
            </a:r>
            <a:endParaRPr lang="ko-KR" sz="2600"/>
          </a:p>
        </p:txBody>
      </p:sp>
      <p:sp>
        <p:nvSpPr>
          <p:cNvPr id="6" name="Subtitle"/>
          <p:cNvSpPr txBox="1"/>
          <p:nvPr/>
        </p:nvSpPr>
        <p:spPr>
          <a:xfrm>
            <a:off x="658368" y="1133856"/>
            <a:ext cx="969264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buNone/>
            </a:pPr>
            <a:r>
              <a:rPr lang="ko-KR" sz="1250" dirty="0">
                <a:solidFill>
                  <a:srgbClr val="6E6E73"/>
                </a:solidFill>
                <a:latin typeface="Aptos"/>
                <a:ea typeface="Aptos"/>
                <a:cs typeface="Aptos"/>
              </a:rPr>
              <a:t>FR은 데이터 수집부터 권한 기반 검색, Top-K Context, 출처·감사 추적까지 Pipeline 책임으로 구성된다.</a:t>
            </a:r>
            <a:endParaRPr lang="ko-KR" sz="1250"/>
          </a:p>
        </p:txBody>
      </p:sp>
      <p:sp>
        <p:nvSpPr>
          <p:cNvPr id="7" name="Data Ingestion &amp; Preparation"/>
          <p:cNvSpPr txBox="1"/>
          <p:nvPr/>
        </p:nvSpPr>
        <p:spPr>
          <a:xfrm>
            <a:off x="658368" y="1664208"/>
            <a:ext cx="5102352" cy="15270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txBody>
          <a:bodyPr wrap="square" anchor="t" lIns="146304" tIns="146304" rIns="146304" bIns="146304"/>
          <a:lstStyle/>
          <a:p>
            <a:pPr algn="l">
              <a:buNone/>
            </a:pPr>
            <a:r>
              <a:rPr lang="ko-KR" sz="1280" dirty="0" b="1">
                <a:solidFill>
                  <a:srgbClr val="1D1D1F"/>
                </a:solidFill>
                <a:latin typeface="Aptos"/>
                <a:ea typeface="Aptos"/>
                <a:cs typeface="Aptos"/>
              </a:rPr>
              <a:t>Data Ingestion &amp; Preparation</a:t>
            </a:r>
            <a:endParaRPr lang="ko-KR" sz="1280"/>
          </a:p>
          <a:p>
            <a:pPr algn="l" marL="342900" indent="-171450">
              <a:buChar char="•"/>
            </a:pPr>
            <a:r>
              <a:rPr lang="ko-KR" sz="890" dirty="0">
                <a:solidFill>
                  <a:srgbClr val="6E6E73"/>
                </a:solidFill>
                <a:latin typeface="Aptos"/>
                <a:ea typeface="Aptos"/>
                <a:cs typeface="Aptos"/>
              </a:rPr>
              <a:t>FR-1 데이터 수집</a:t>
            </a:r>
            <a:endParaRPr lang="ko-KR" sz="890"/>
          </a:p>
          <a:p>
            <a:pPr algn="l" marL="342900" indent="-171450">
              <a:buChar char="•"/>
            </a:pPr>
            <a:r>
              <a:rPr lang="ko-KR" sz="890" dirty="0">
                <a:solidFill>
                  <a:srgbClr val="6E6E73"/>
                </a:solidFill>
                <a:latin typeface="Aptos"/>
                <a:ea typeface="Aptos"/>
                <a:cs typeface="Aptos"/>
              </a:rPr>
              <a:t>FR-2 검색 단위 정규화</a:t>
            </a:r>
            <a:endParaRPr lang="ko-KR" sz="890"/>
          </a:p>
          <a:p>
            <a:pPr algn="l" marL="342900" indent="-171450">
              <a:buChar char="•"/>
            </a:pPr>
            <a:r>
              <a:rPr lang="ko-KR" sz="890" dirty="0">
                <a:solidFill>
                  <a:srgbClr val="6E6E73"/>
                </a:solidFill>
                <a:latin typeface="Aptos"/>
                <a:ea typeface="Aptos"/>
                <a:cs typeface="Aptos"/>
              </a:rPr>
              <a:t>FR-3 민감정보 마스킹</a:t>
            </a:r>
            <a:endParaRPr lang="ko-KR" sz="890"/>
          </a:p>
          <a:p>
            <a:pPr algn="l" marL="342900" indent="-171450">
              <a:buChar char="•"/>
            </a:pPr>
            <a:r>
              <a:rPr lang="ko-KR" sz="890" dirty="0">
                <a:solidFill>
                  <a:srgbClr val="6E6E73"/>
                </a:solidFill>
                <a:latin typeface="Aptos"/>
                <a:ea typeface="Aptos"/>
                <a:cs typeface="Aptos"/>
              </a:rPr>
              <a:t>FR-4 SPRAG 중복/유사 대표화</a:t>
            </a:r>
            <a:endParaRPr lang="ko-KR" sz="890"/>
          </a:p>
        </p:txBody>
      </p:sp>
      <p:sp>
        <p:nvSpPr>
          <p:cNvPr id="8" name="Metadata &amp; Lifecycle"/>
          <p:cNvSpPr txBox="1"/>
          <p:nvPr/>
        </p:nvSpPr>
        <p:spPr>
          <a:xfrm>
            <a:off x="6144768" y="1664208"/>
            <a:ext cx="5102352" cy="15270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txBody>
          <a:bodyPr wrap="square" anchor="t" lIns="146304" tIns="146304" rIns="146304" bIns="146304"/>
          <a:lstStyle/>
          <a:p>
            <a:pPr algn="l">
              <a:buNone/>
            </a:pPr>
            <a:r>
              <a:rPr lang="ko-KR" sz="1280" dirty="0" b="1">
                <a:solidFill>
                  <a:srgbClr val="1D1D1F"/>
                </a:solidFill>
                <a:latin typeface="Aptos"/>
                <a:ea typeface="Aptos"/>
                <a:cs typeface="Aptos"/>
              </a:rPr>
              <a:t>Metadata &amp; Lifecycle</a:t>
            </a:r>
            <a:endParaRPr lang="ko-KR" sz="1280"/>
          </a:p>
          <a:p>
            <a:pPr algn="l" marL="342900" indent="-171450">
              <a:buChar char="•"/>
            </a:pPr>
            <a:r>
              <a:rPr lang="ko-KR" sz="890" dirty="0">
                <a:solidFill>
                  <a:srgbClr val="6E6E73"/>
                </a:solidFill>
                <a:latin typeface="Aptos"/>
                <a:ea typeface="Aptos"/>
                <a:cs typeface="Aptos"/>
              </a:rPr>
              <a:t>FR-5 권한/출처/버전/최신성 메타데이터</a:t>
            </a:r>
            <a:endParaRPr lang="ko-KR" sz="890"/>
          </a:p>
          <a:p>
            <a:pPr algn="l" marL="342900" indent="-171450">
              <a:buChar char="•"/>
            </a:pPr>
            <a:r>
              <a:rPr lang="ko-KR" sz="890" dirty="0">
                <a:solidFill>
                  <a:srgbClr val="6E6E73"/>
                </a:solidFill>
                <a:latin typeface="Aptos"/>
                <a:ea typeface="Aptos"/>
                <a:cs typeface="Aptos"/>
              </a:rPr>
              <a:t>FR-6 변경·삭제·권한 이벤트 반영</a:t>
            </a:r>
            <a:endParaRPr lang="ko-KR" sz="890"/>
          </a:p>
        </p:txBody>
      </p:sp>
      <p:sp>
        <p:nvSpPr>
          <p:cNvPr id="9" name="Session-aware Query"/>
          <p:cNvSpPr txBox="1"/>
          <p:nvPr/>
        </p:nvSpPr>
        <p:spPr>
          <a:xfrm>
            <a:off x="658368" y="3538728"/>
            <a:ext cx="5102352" cy="15270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txBody>
          <a:bodyPr wrap="square" anchor="t" lIns="146304" tIns="146304" rIns="146304" bIns="146304"/>
          <a:lstStyle/>
          <a:p>
            <a:pPr algn="l">
              <a:buNone/>
            </a:pPr>
            <a:r>
              <a:rPr lang="ko-KR" sz="1280" dirty="0" b="1">
                <a:solidFill>
                  <a:srgbClr val="1D1D1F"/>
                </a:solidFill>
                <a:latin typeface="Aptos"/>
                <a:ea typeface="Aptos"/>
                <a:cs typeface="Aptos"/>
              </a:rPr>
              <a:t>Session-aware Query</a:t>
            </a:r>
            <a:endParaRPr lang="ko-KR" sz="1280"/>
          </a:p>
          <a:p>
            <a:pPr algn="l" marL="342900" indent="-171450">
              <a:buChar char="•"/>
            </a:pPr>
            <a:r>
              <a:rPr lang="ko-KR" sz="890" dirty="0">
                <a:solidFill>
                  <a:srgbClr val="6E6E73"/>
                </a:solidFill>
                <a:latin typeface="Aptos"/>
                <a:ea typeface="Aptos"/>
                <a:cs typeface="Aptos"/>
              </a:rPr>
              <a:t>FR-7 Multi-turn 질의</a:t>
            </a:r>
            <a:endParaRPr lang="ko-KR" sz="890"/>
          </a:p>
          <a:p>
            <a:pPr algn="l" marL="342900" indent="-171450">
              <a:buChar char="•"/>
            </a:pPr>
            <a:r>
              <a:rPr lang="ko-KR" sz="890" dirty="0">
                <a:solidFill>
                  <a:srgbClr val="6E6E73"/>
                </a:solidFill>
                <a:latin typeface="Aptos"/>
                <a:ea typeface="Aptos"/>
                <a:cs typeface="Aptos"/>
              </a:rPr>
              <a:t>FR-8 Multi-session 질의</a:t>
            </a:r>
            <a:endParaRPr lang="ko-KR" sz="890"/>
          </a:p>
          <a:p>
            <a:pPr algn="l" marL="342900" indent="-171450">
              <a:buChar char="•"/>
            </a:pPr>
            <a:r>
              <a:rPr lang="ko-KR" sz="890" dirty="0">
                <a:solidFill>
                  <a:srgbClr val="6E6E73"/>
                </a:solidFill>
                <a:latin typeface="Aptos"/>
                <a:ea typeface="Aptos"/>
                <a:cs typeface="Aptos"/>
              </a:rPr>
              <a:t>FR-9 세션 참조 허용 설정</a:t>
            </a:r>
            <a:endParaRPr lang="ko-KR" sz="890"/>
          </a:p>
          <a:p>
            <a:pPr algn="l" marL="342900" indent="-171450">
              <a:buChar char="•"/>
            </a:pPr>
            <a:r>
              <a:rPr lang="ko-KR" sz="890" dirty="0">
                <a:solidFill>
                  <a:srgbClr val="6E6E73"/>
                </a:solidFill>
                <a:latin typeface="Aptos"/>
                <a:ea typeface="Aptos"/>
                <a:cs typeface="Aptos"/>
              </a:rPr>
              <a:t>FR-10 사용자/그룹 권한 기반 범위 결정</a:t>
            </a:r>
            <a:endParaRPr lang="ko-KR" sz="890"/>
          </a:p>
        </p:txBody>
      </p:sp>
      <p:sp>
        <p:nvSpPr>
          <p:cNvPr id="10" name="Retrieval &amp; Answering"/>
          <p:cNvSpPr txBox="1"/>
          <p:nvPr/>
        </p:nvSpPr>
        <p:spPr>
          <a:xfrm>
            <a:off x="6144768" y="3538728"/>
            <a:ext cx="5102352" cy="15270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txBody>
          <a:bodyPr wrap="square" anchor="t" lIns="146304" tIns="146304" rIns="146304" bIns="146304"/>
          <a:lstStyle/>
          <a:p>
            <a:pPr algn="l">
              <a:buNone/>
            </a:pPr>
            <a:r>
              <a:rPr lang="ko-KR" sz="1280" dirty="0" b="1">
                <a:solidFill>
                  <a:srgbClr val="1D1D1F"/>
                </a:solidFill>
                <a:latin typeface="Aptos"/>
                <a:ea typeface="Aptos"/>
                <a:cs typeface="Aptos"/>
              </a:rPr>
              <a:t>Retrieval &amp; Answering</a:t>
            </a:r>
            <a:endParaRPr lang="ko-KR" sz="1280"/>
          </a:p>
          <a:p>
            <a:pPr algn="l" marL="342900" indent="-171450">
              <a:buChar char="•"/>
            </a:pPr>
            <a:r>
              <a:rPr lang="ko-KR" sz="890" dirty="0">
                <a:solidFill>
                  <a:srgbClr val="6E6E73"/>
                </a:solidFill>
                <a:latin typeface="Aptos"/>
                <a:ea typeface="Aptos"/>
                <a:cs typeface="Aptos"/>
              </a:rPr>
              <a:t>FR-11 Vector Search + Metadata Filtering</a:t>
            </a:r>
            <a:endParaRPr lang="ko-KR" sz="890"/>
          </a:p>
          <a:p>
            <a:pPr algn="l" marL="342900" indent="-171450">
              <a:buChar char="•"/>
            </a:pPr>
            <a:r>
              <a:rPr lang="ko-KR" sz="890" dirty="0">
                <a:solidFill>
                  <a:srgbClr val="6E6E73"/>
                </a:solidFill>
                <a:latin typeface="Aptos"/>
                <a:ea typeface="Aptos"/>
                <a:cs typeface="Aptos"/>
              </a:rPr>
              <a:t>FR-12 관련도/최신성/신뢰도 Re-ranking</a:t>
            </a:r>
            <a:endParaRPr lang="ko-KR" sz="890"/>
          </a:p>
          <a:p>
            <a:pPr algn="l" marL="342900" indent="-171450">
              <a:buChar char="•"/>
            </a:pPr>
            <a:r>
              <a:rPr lang="ko-KR" sz="890" dirty="0">
                <a:solidFill>
                  <a:srgbClr val="6E6E73"/>
                </a:solidFill>
                <a:latin typeface="Aptos"/>
                <a:ea typeface="Aptos"/>
                <a:cs typeface="Aptos"/>
              </a:rPr>
              <a:t>FR-13 Top-K Context 제한</a:t>
            </a:r>
            <a:endParaRPr lang="ko-KR" sz="890"/>
          </a:p>
          <a:p>
            <a:pPr algn="l" marL="342900" indent="-171450">
              <a:buChar char="•"/>
            </a:pPr>
            <a:r>
              <a:rPr lang="ko-KR" sz="890" dirty="0">
                <a:solidFill>
                  <a:srgbClr val="6E6E73"/>
                </a:solidFill>
                <a:latin typeface="Aptos"/>
                <a:ea typeface="Aptos"/>
                <a:cs typeface="Aptos"/>
              </a:rPr>
              <a:t>FR-14 출처 제공</a:t>
            </a:r>
            <a:endParaRPr lang="ko-KR" sz="890"/>
          </a:p>
          <a:p>
            <a:pPr algn="l" marL="342900" indent="-171450">
              <a:buChar char="•"/>
            </a:pPr>
            <a:r>
              <a:rPr lang="ko-KR" sz="890" dirty="0">
                <a:solidFill>
                  <a:srgbClr val="6E6E73"/>
                </a:solidFill>
                <a:latin typeface="Aptos"/>
                <a:ea typeface="Aptos"/>
                <a:cs typeface="Aptos"/>
              </a:rPr>
              <a:t>FR-15 충돌 근거 명시</a:t>
            </a:r>
            <a:endParaRPr lang="ko-KR" sz="890"/>
          </a:p>
          <a:p>
            <a:pPr algn="l" marL="342900" indent="-171450">
              <a:buChar char="•"/>
            </a:pPr>
            <a:r>
              <a:rPr lang="ko-KR" sz="890" dirty="0">
                <a:solidFill>
                  <a:srgbClr val="6E6E73"/>
                </a:solidFill>
                <a:latin typeface="Aptos"/>
                <a:ea typeface="Aptos"/>
                <a:cs typeface="Aptos"/>
              </a:rPr>
              <a:t>FR-16 감사 로그 기록</a:t>
            </a:r>
            <a:endParaRPr lang="ko-KR" sz="890"/>
          </a:p>
        </p:txBody>
      </p:sp>
      <p:sp>
        <p:nvSpPr>
          <p:cNvPr id="11" name="Scope Note"/>
          <p:cNvSpPr txBox="1"/>
          <p:nvPr/>
        </p:nvSpPr>
        <p:spPr>
          <a:xfrm>
            <a:off x="658368" y="5559552"/>
            <a:ext cx="10771632" cy="530352"/>
          </a:xfrm>
          <a:prstGeom prst="roundRect">
            <a:avLst/>
          </a:prstGeom>
          <a:solidFill>
            <a:srgbClr val="F5F5F7"/>
          </a:solidFill>
          <a:ln w="9525">
            <a:solidFill>
              <a:srgbClr val="E0E0E0"/>
            </a:solidFill>
          </a:ln>
        </p:spPr>
        <p:txBody>
          <a:bodyPr wrap="square" anchor="t" lIns="118872" tIns="118872" rIns="118872" bIns="118872"/>
          <a:lstStyle/>
          <a:p>
            <a:pPr algn="l">
              <a:buNone/>
            </a:pPr>
            <a:r>
              <a:rPr lang="ko-KR" sz="1050" dirty="0">
                <a:solidFill>
                  <a:srgbClr val="6E6E73"/>
                </a:solidFill>
                <a:latin typeface="Aptos"/>
                <a:ea typeface="Aptos"/>
                <a:cs typeface="Aptos"/>
              </a:rPr>
              <a:t>FR의 중심은 UI 기능이 아니라 데이터 수집부터 권한 기반 Retrieval, Re-ranking, LLM Context 조립, 출처·감사 추적까지 이어지는 Pipeline 책임이다.</a:t>
            </a:r>
            <a:endParaRPr lang="ko-KR" sz="1050"/>
          </a:p>
        </p:txBody>
      </p:sp>
      <p:sp>
        <p:nvSpPr>
          <p:cNvPr id="12" name="Footer"/>
          <p:cNvSpPr txBox="1"/>
          <p:nvPr/>
        </p:nvSpPr>
        <p:spPr>
          <a:xfrm>
            <a:off x="658368" y="6473952"/>
            <a:ext cx="54864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buNone/>
            </a:pPr>
            <a:r>
              <a:rPr lang="ko-KR" sz="850" dirty="0">
                <a:solidFill>
                  <a:srgbClr val="6E6E73"/>
                </a:solidFill>
                <a:latin typeface="Aptos"/>
                <a:ea typeface="Aptos"/>
                <a:cs typeface="Aptos"/>
              </a:rPr>
              <a:t>SPRAG 기반 사내 메신저 AI Assistant Architecture</a:t>
            </a:r>
            <a:endParaRPr lang="ko-KR" sz="850"/>
          </a:p>
        </p:txBody>
      </p:sp>
      <p:sp>
        <p:nvSpPr>
          <p:cNvPr id="13" name="PageNo"/>
          <p:cNvSpPr txBox="1"/>
          <p:nvPr/>
        </p:nvSpPr>
        <p:spPr>
          <a:xfrm>
            <a:off x="10835640" y="6473952"/>
            <a:ext cx="713232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r">
              <a:buNone/>
            </a:pPr>
            <a:r>
              <a:rPr lang="ko-KR" sz="850" dirty="0">
                <a:solidFill>
                  <a:srgbClr val="6E6E73"/>
                </a:solidFill>
                <a:latin typeface="Aptos"/>
                <a:ea typeface="Aptos"/>
                <a:cs typeface="Aptos"/>
              </a:rPr>
              <a:t>05/12</a:t>
            </a:r>
            <a:endParaRPr lang="ko-KR" sz="85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525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Chapter"/>
          <p:cNvSpPr txBox="1"/>
          <p:nvPr/>
        </p:nvSpPr>
        <p:spPr>
          <a:xfrm>
            <a:off x="658368" y="347472"/>
            <a:ext cx="310896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buNone/>
            </a:pPr>
            <a:r>
              <a:rPr lang="ko-KR" sz="1050" dirty="0" b="1">
                <a:solidFill>
                  <a:srgbClr val="2997FF"/>
                </a:solidFill>
                <a:latin typeface="Aptos"/>
                <a:ea typeface="Aptos"/>
                <a:cs typeface="Aptos"/>
              </a:rPr>
              <a:t>06 QUALITY ATTRIBUTES</a:t>
            </a:r>
            <a:endParaRPr lang="ko-KR" sz="1050"/>
          </a:p>
        </p:txBody>
      </p:sp>
      <p:sp>
        <p:nvSpPr>
          <p:cNvPr id="5" name="Title"/>
          <p:cNvSpPr txBox="1"/>
          <p:nvPr/>
        </p:nvSpPr>
        <p:spPr>
          <a:xfrm>
            <a:off x="658368" y="658368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buNone/>
            </a:pPr>
            <a:r>
              <a:rPr lang="ko-KR" sz="2600" dirty="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NFR / QA Drivers</a:t>
            </a:r>
            <a:endParaRPr lang="ko-KR" sz="2600"/>
          </a:p>
        </p:txBody>
      </p:sp>
      <p:sp>
        <p:nvSpPr>
          <p:cNvPr id="6" name="Subtitle"/>
          <p:cNvSpPr txBox="1"/>
          <p:nvPr/>
        </p:nvSpPr>
        <p:spPr>
          <a:xfrm>
            <a:off x="658368" y="1133856"/>
            <a:ext cx="969264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buNone/>
            </a:pPr>
            <a:r>
              <a:rPr lang="ko-KR" sz="1250" dirty="0">
                <a:solidFill>
                  <a:srgbClr val="CCCCCC"/>
                </a:solidFill>
                <a:latin typeface="Aptos"/>
                <a:ea typeface="Aptos"/>
                <a:cs typeface="Aptos"/>
              </a:rPr>
              <a:t>ISO/IEC 25010 기준 품질속성이 SPRAG Architecture의 주요 설계 결정을 주도한다.</a:t>
            </a:r>
            <a:endParaRPr lang="ko-KR" sz="1250"/>
          </a:p>
        </p:txBody>
      </p:sp>
      <p:sp>
        <p:nvSpPr>
          <p:cNvPr id="7" name="Functional Suitability"/>
          <p:cNvSpPr txBox="1"/>
          <p:nvPr/>
        </p:nvSpPr>
        <p:spPr>
          <a:xfrm>
            <a:off x="658368" y="1664208"/>
            <a:ext cx="5102352" cy="960120"/>
          </a:xfrm>
          <a:prstGeom prst="roundRect">
            <a:avLst/>
          </a:prstGeom>
          <a:solidFill>
            <a:srgbClr val="333336"/>
          </a:solidFill>
          <a:ln w="9525">
            <a:solidFill>
              <a:srgbClr val="56565A"/>
            </a:solidFill>
          </a:ln>
        </p:spPr>
        <p:txBody>
          <a:bodyPr wrap="square" anchor="t" lIns="128016" tIns="128016" rIns="128016" bIns="128016"/>
          <a:lstStyle/>
          <a:p>
            <a:pPr algn="l">
              <a:buNone/>
            </a:pPr>
            <a:r>
              <a:rPr lang="ko-KR" sz="1300" dirty="0" b="1">
                <a:solidFill>
                  <a:srgbClr val="0066CC"/>
                </a:solidFill>
                <a:latin typeface="Aptos"/>
                <a:ea typeface="Aptos"/>
                <a:cs typeface="Aptos"/>
              </a:rPr>
              <a:t>1</a:t>
            </a:r>
            <a:r>
              <a:rPr lang="ko-KR" sz="1250" dirty="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  Functional Suitability</a:t>
            </a:r>
            <a:endParaRPr lang="ko-KR" sz="1200"/>
          </a:p>
          <a:p>
            <a:pPr algn="l">
              <a:buNone/>
            </a:pPr>
            <a:r>
              <a:rPr lang="ko-KR" sz="940" dirty="0">
                <a:solidFill>
                  <a:srgbClr val="CCCCCC"/>
                </a:solidFill>
                <a:latin typeface="Aptos"/>
                <a:ea typeface="Aptos"/>
                <a:cs typeface="Aptos"/>
              </a:rPr>
              <a:t>근거 선택 정확성, 출처 기반 답변, 질의 의도/세션 맥락 반영</a:t>
            </a:r>
            <a:endParaRPr lang="ko-KR" sz="940"/>
          </a:p>
        </p:txBody>
      </p:sp>
      <p:sp>
        <p:nvSpPr>
          <p:cNvPr id="8" name="Security"/>
          <p:cNvSpPr txBox="1"/>
          <p:nvPr/>
        </p:nvSpPr>
        <p:spPr>
          <a:xfrm>
            <a:off x="6144768" y="1664208"/>
            <a:ext cx="5102352" cy="960120"/>
          </a:xfrm>
          <a:prstGeom prst="roundRect">
            <a:avLst/>
          </a:prstGeom>
          <a:solidFill>
            <a:srgbClr val="333336"/>
          </a:solidFill>
          <a:ln w="9525">
            <a:solidFill>
              <a:srgbClr val="56565A"/>
            </a:solidFill>
          </a:ln>
        </p:spPr>
        <p:txBody>
          <a:bodyPr wrap="square" anchor="t" lIns="128016" tIns="128016" rIns="128016" bIns="128016"/>
          <a:lstStyle/>
          <a:p>
            <a:pPr algn="l">
              <a:buNone/>
            </a:pPr>
            <a:r>
              <a:rPr lang="ko-KR" sz="1300" dirty="0" b="1">
                <a:solidFill>
                  <a:srgbClr val="0066CC"/>
                </a:solidFill>
                <a:latin typeface="Aptos"/>
                <a:ea typeface="Aptos"/>
                <a:cs typeface="Aptos"/>
              </a:rPr>
              <a:t>2</a:t>
            </a:r>
            <a:r>
              <a:rPr lang="ko-KR" sz="1250" dirty="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  Security</a:t>
            </a:r>
            <a:endParaRPr lang="ko-KR" sz="1200"/>
          </a:p>
          <a:p>
            <a:pPr algn="l">
              <a:buNone/>
            </a:pPr>
            <a:r>
              <a:rPr lang="ko-KR" sz="940" dirty="0">
                <a:solidFill>
                  <a:srgbClr val="CCCCCC"/>
                </a:solidFill>
                <a:latin typeface="Aptos"/>
                <a:ea typeface="Aptos"/>
                <a:cs typeface="Aptos"/>
              </a:rPr>
              <a:t>Confidentiality, Integrity, Accountability, Authenticity</a:t>
            </a:r>
            <a:endParaRPr lang="ko-KR" sz="940"/>
          </a:p>
        </p:txBody>
      </p:sp>
      <p:sp>
        <p:nvSpPr>
          <p:cNvPr id="9" name="Performance Efficiency"/>
          <p:cNvSpPr txBox="1"/>
          <p:nvPr/>
        </p:nvSpPr>
        <p:spPr>
          <a:xfrm>
            <a:off x="658368" y="2926080"/>
            <a:ext cx="5102352" cy="960120"/>
          </a:xfrm>
          <a:prstGeom prst="roundRect">
            <a:avLst/>
          </a:prstGeom>
          <a:solidFill>
            <a:srgbClr val="333336"/>
          </a:solidFill>
          <a:ln w="9525">
            <a:solidFill>
              <a:srgbClr val="56565A"/>
            </a:solidFill>
          </a:ln>
        </p:spPr>
        <p:txBody>
          <a:bodyPr wrap="square" anchor="t" lIns="128016" tIns="128016" rIns="128016" bIns="128016"/>
          <a:lstStyle/>
          <a:p>
            <a:pPr algn="l">
              <a:buNone/>
            </a:pPr>
            <a:r>
              <a:rPr lang="ko-KR" sz="1300" dirty="0" b="1">
                <a:solidFill>
                  <a:srgbClr val="0066CC"/>
                </a:solidFill>
                <a:latin typeface="Aptos"/>
                <a:ea typeface="Aptos"/>
                <a:cs typeface="Aptos"/>
              </a:rPr>
              <a:t>3</a:t>
            </a:r>
            <a:r>
              <a:rPr lang="ko-KR" sz="1250" dirty="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  Performance Efficiency</a:t>
            </a:r>
            <a:endParaRPr lang="ko-KR" sz="1200"/>
          </a:p>
          <a:p>
            <a:pPr algn="l">
              <a:buNone/>
            </a:pPr>
            <a:r>
              <a:rPr lang="ko-KR" sz="940" dirty="0">
                <a:solidFill>
                  <a:srgbClr val="CCCCCC"/>
                </a:solidFill>
                <a:latin typeface="Aptos"/>
                <a:ea typeface="Aptos"/>
                <a:cs typeface="Aptos"/>
              </a:rPr>
              <a:t>Time Behaviour, Resource Utilization, Capacity</a:t>
            </a:r>
            <a:endParaRPr lang="ko-KR" sz="940"/>
          </a:p>
        </p:txBody>
      </p:sp>
      <p:sp>
        <p:nvSpPr>
          <p:cNvPr id="10" name="Reliability"/>
          <p:cNvSpPr txBox="1"/>
          <p:nvPr/>
        </p:nvSpPr>
        <p:spPr>
          <a:xfrm>
            <a:off x="6144768" y="2926080"/>
            <a:ext cx="5102352" cy="960120"/>
          </a:xfrm>
          <a:prstGeom prst="roundRect">
            <a:avLst/>
          </a:prstGeom>
          <a:solidFill>
            <a:srgbClr val="333336"/>
          </a:solidFill>
          <a:ln w="9525">
            <a:solidFill>
              <a:srgbClr val="56565A"/>
            </a:solidFill>
          </a:ln>
        </p:spPr>
        <p:txBody>
          <a:bodyPr wrap="square" anchor="t" lIns="128016" tIns="128016" rIns="128016" bIns="128016"/>
          <a:lstStyle/>
          <a:p>
            <a:pPr algn="l">
              <a:buNone/>
            </a:pPr>
            <a:r>
              <a:rPr lang="ko-KR" sz="1300" dirty="0" b="1">
                <a:solidFill>
                  <a:srgbClr val="0066CC"/>
                </a:solidFill>
                <a:latin typeface="Aptos"/>
                <a:ea typeface="Aptos"/>
                <a:cs typeface="Aptos"/>
              </a:rPr>
              <a:t>4</a:t>
            </a:r>
            <a:r>
              <a:rPr lang="ko-KR" sz="1250" dirty="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  Reliability</a:t>
            </a:r>
            <a:endParaRPr lang="ko-KR" sz="1200"/>
          </a:p>
          <a:p>
            <a:pPr algn="l">
              <a:buNone/>
            </a:pPr>
            <a:r>
              <a:rPr lang="ko-KR" sz="940" dirty="0">
                <a:solidFill>
                  <a:srgbClr val="CCCCCC"/>
                </a:solidFill>
                <a:latin typeface="Aptos"/>
                <a:ea typeface="Aptos"/>
                <a:cs typeface="Aptos"/>
              </a:rPr>
              <a:t>Availability, Fault Tolerance, Recoverability</a:t>
            </a:r>
            <a:endParaRPr lang="ko-KR" sz="940"/>
          </a:p>
        </p:txBody>
      </p:sp>
      <p:sp>
        <p:nvSpPr>
          <p:cNvPr id="11" name="Maintainability"/>
          <p:cNvSpPr txBox="1"/>
          <p:nvPr/>
        </p:nvSpPr>
        <p:spPr>
          <a:xfrm>
            <a:off x="658368" y="4187952"/>
            <a:ext cx="5102352" cy="960120"/>
          </a:xfrm>
          <a:prstGeom prst="roundRect">
            <a:avLst/>
          </a:prstGeom>
          <a:solidFill>
            <a:srgbClr val="333336"/>
          </a:solidFill>
          <a:ln w="9525">
            <a:solidFill>
              <a:srgbClr val="56565A"/>
            </a:solidFill>
          </a:ln>
        </p:spPr>
        <p:txBody>
          <a:bodyPr wrap="square" anchor="t" lIns="128016" tIns="128016" rIns="128016" bIns="128016"/>
          <a:lstStyle/>
          <a:p>
            <a:pPr algn="l">
              <a:buNone/>
            </a:pPr>
            <a:r>
              <a:rPr lang="ko-KR" sz="1300" dirty="0" b="1">
                <a:solidFill>
                  <a:srgbClr val="0066CC"/>
                </a:solidFill>
                <a:latin typeface="Aptos"/>
                <a:ea typeface="Aptos"/>
                <a:cs typeface="Aptos"/>
              </a:rPr>
              <a:t>5</a:t>
            </a:r>
            <a:r>
              <a:rPr lang="ko-KR" sz="1250" dirty="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  Maintainability</a:t>
            </a:r>
            <a:endParaRPr lang="ko-KR" sz="1200"/>
          </a:p>
          <a:p>
            <a:pPr algn="l">
              <a:buNone/>
            </a:pPr>
            <a:r>
              <a:rPr lang="ko-KR" sz="940" dirty="0">
                <a:solidFill>
                  <a:srgbClr val="CCCCCC"/>
                </a:solidFill>
                <a:latin typeface="Aptos"/>
                <a:ea typeface="Aptos"/>
                <a:cs typeface="Aptos"/>
              </a:rPr>
              <a:t>Modularity, Modifiability, Testability</a:t>
            </a:r>
            <a:endParaRPr lang="ko-KR" sz="940"/>
          </a:p>
        </p:txBody>
      </p:sp>
      <p:sp>
        <p:nvSpPr>
          <p:cNvPr id="12" name="Portability"/>
          <p:cNvSpPr txBox="1"/>
          <p:nvPr/>
        </p:nvSpPr>
        <p:spPr>
          <a:xfrm>
            <a:off x="6144768" y="4187952"/>
            <a:ext cx="5102352" cy="960120"/>
          </a:xfrm>
          <a:prstGeom prst="roundRect">
            <a:avLst/>
          </a:prstGeom>
          <a:solidFill>
            <a:srgbClr val="333336"/>
          </a:solidFill>
          <a:ln w="9525">
            <a:solidFill>
              <a:srgbClr val="56565A"/>
            </a:solidFill>
          </a:ln>
        </p:spPr>
        <p:txBody>
          <a:bodyPr wrap="square" anchor="t" lIns="128016" tIns="128016" rIns="128016" bIns="128016"/>
          <a:lstStyle/>
          <a:p>
            <a:pPr algn="l">
              <a:buNone/>
            </a:pPr>
            <a:r>
              <a:rPr lang="ko-KR" sz="1300" dirty="0" b="1">
                <a:solidFill>
                  <a:srgbClr val="0066CC"/>
                </a:solidFill>
                <a:latin typeface="Aptos"/>
                <a:ea typeface="Aptos"/>
                <a:cs typeface="Aptos"/>
              </a:rPr>
              <a:t>6</a:t>
            </a:r>
            <a:r>
              <a:rPr lang="ko-KR" sz="1250" dirty="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  Portability</a:t>
            </a:r>
            <a:endParaRPr lang="ko-KR" sz="1200"/>
          </a:p>
          <a:p>
            <a:pPr algn="l">
              <a:buNone/>
            </a:pPr>
            <a:r>
              <a:rPr lang="ko-KR" sz="940" dirty="0">
                <a:solidFill>
                  <a:srgbClr val="CCCCCC"/>
                </a:solidFill>
                <a:latin typeface="Aptos"/>
                <a:ea typeface="Aptos"/>
                <a:cs typeface="Aptos"/>
              </a:rPr>
              <a:t>Vector DB, Embedding, LLM Provider 교체 가능성</a:t>
            </a:r>
            <a:endParaRPr lang="ko-KR" sz="940"/>
          </a:p>
        </p:txBody>
      </p:sp>
      <p:sp>
        <p:nvSpPr>
          <p:cNvPr id="13" name="QA Statement"/>
          <p:cNvSpPr txBox="1"/>
          <p:nvPr/>
        </p:nvSpPr>
        <p:spPr>
          <a:xfrm>
            <a:off x="658368" y="5559552"/>
            <a:ext cx="10771632" cy="548640"/>
          </a:xfrm>
          <a:prstGeom prst="roundRect">
            <a:avLst/>
          </a:prstGeom>
          <a:solidFill>
            <a:srgbClr val="3A3A3D"/>
          </a:solidFill>
          <a:ln w="9525">
            <a:solidFill>
              <a:srgbClr val="56565A"/>
            </a:solidFill>
          </a:ln>
        </p:spPr>
        <p:txBody>
          <a:bodyPr wrap="square" anchor="t" lIns="118872" tIns="118872" rIns="118872" bIns="118872"/>
          <a:lstStyle/>
          <a:p>
            <a:pPr algn="l">
              <a:buNone/>
            </a:pPr>
            <a:r>
              <a:rPr lang="ko-KR" sz="1050" dirty="0">
                <a:solidFill>
                  <a:srgbClr val="CCCCCC"/>
                </a:solidFill>
                <a:latin typeface="Aptos"/>
                <a:ea typeface="Aptos"/>
                <a:cs typeface="Aptos"/>
              </a:rPr>
              <a:t>QA Priority: 정확한 근거 선택과 권한 기반 안전성이 최우선이며, SPRAG은 비용·응답시간·유지보수성을 동시에 개선하기 위한 Architecture Driver로 사용된다.</a:t>
            </a:r>
            <a:endParaRPr lang="ko-KR" sz="1050"/>
          </a:p>
        </p:txBody>
      </p:sp>
      <p:sp>
        <p:nvSpPr>
          <p:cNvPr id="14" name="Footer"/>
          <p:cNvSpPr txBox="1"/>
          <p:nvPr/>
        </p:nvSpPr>
        <p:spPr>
          <a:xfrm>
            <a:off x="658368" y="6473952"/>
            <a:ext cx="54864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buNone/>
            </a:pPr>
            <a:r>
              <a:rPr lang="ko-KR" sz="850" dirty="0">
                <a:solidFill>
                  <a:srgbClr val="CCCCCC"/>
                </a:solidFill>
                <a:latin typeface="Aptos"/>
                <a:ea typeface="Aptos"/>
                <a:cs typeface="Aptos"/>
              </a:rPr>
              <a:t>SPRAG 기반 사내 메신저 AI Assistant Architecture</a:t>
            </a:r>
            <a:endParaRPr lang="ko-KR" sz="850"/>
          </a:p>
        </p:txBody>
      </p:sp>
      <p:sp>
        <p:nvSpPr>
          <p:cNvPr id="15" name="PageNo"/>
          <p:cNvSpPr txBox="1"/>
          <p:nvPr/>
        </p:nvSpPr>
        <p:spPr>
          <a:xfrm>
            <a:off x="10835640" y="6473952"/>
            <a:ext cx="713232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r">
              <a:buNone/>
            </a:pPr>
            <a:r>
              <a:rPr lang="ko-KR" sz="850" dirty="0">
                <a:solidFill>
                  <a:srgbClr val="CCCCCC"/>
                </a:solidFill>
                <a:latin typeface="Aptos"/>
                <a:ea typeface="Aptos"/>
                <a:cs typeface="Aptos"/>
              </a:rPr>
              <a:t>06/12</a:t>
            </a:r>
            <a:endParaRPr lang="ko-KR" sz="85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Chapter"/>
          <p:cNvSpPr txBox="1"/>
          <p:nvPr/>
        </p:nvSpPr>
        <p:spPr>
          <a:xfrm>
            <a:off x="658368" y="347472"/>
            <a:ext cx="310896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buNone/>
            </a:pPr>
            <a:r>
              <a:rPr lang="ko-KR" sz="1050" dirty="0" b="1">
                <a:solidFill>
                  <a:srgbClr val="0066CC"/>
                </a:solidFill>
                <a:latin typeface="Aptos"/>
                <a:ea typeface="Aptos"/>
                <a:cs typeface="Aptos"/>
              </a:rPr>
              <a:t>APPENDIX A.1</a:t>
            </a:r>
            <a:endParaRPr lang="ko-KR" sz="1050"/>
          </a:p>
        </p:txBody>
      </p:sp>
      <p:sp>
        <p:nvSpPr>
          <p:cNvPr id="5" name="Title"/>
          <p:cNvSpPr txBox="1"/>
          <p:nvPr/>
        </p:nvSpPr>
        <p:spPr>
          <a:xfrm>
            <a:off x="658368" y="658368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buNone/>
            </a:pPr>
            <a:r>
              <a:rPr lang="ko-KR" sz="2600" dirty="0" b="1">
                <a:solidFill>
                  <a:srgbClr val="1D1D1F"/>
                </a:solidFill>
                <a:latin typeface="Aptos"/>
                <a:ea typeface="Aptos"/>
                <a:cs typeface="Aptos"/>
              </a:rPr>
              <a:t>멀티 세션 업무 회고</a:t>
            </a:r>
            <a:endParaRPr lang="ko-KR" sz="2600"/>
          </a:p>
        </p:txBody>
      </p:sp>
      <p:sp>
        <p:nvSpPr>
          <p:cNvPr id="6" name="Subtitle"/>
          <p:cNvSpPr txBox="1"/>
          <p:nvPr/>
        </p:nvSpPr>
        <p:spPr>
          <a:xfrm>
            <a:off x="658368" y="1133856"/>
            <a:ext cx="969264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buNone/>
            </a:pPr>
            <a:r>
              <a:rPr lang="ko-KR" sz="1250" dirty="0">
                <a:solidFill>
                  <a:srgbClr val="6E6E73"/>
                </a:solidFill>
                <a:latin typeface="Aptos"/>
                <a:ea typeface="Aptos"/>
                <a:cs typeface="Aptos"/>
              </a:rPr>
              <a:t>과거 여러 대화방과 관련 문서를 함께 검색해 프로젝트/장애/의사결정 이력을 요약한다.</a:t>
            </a:r>
            <a:endParaRPr lang="ko-KR" sz="1250"/>
          </a:p>
        </p:txBody>
      </p:sp>
      <p:sp>
        <p:nvSpPr>
          <p:cNvPr id="7" name="Summary"/>
          <p:cNvSpPr txBox="1"/>
          <p:nvPr/>
        </p:nvSpPr>
        <p:spPr>
          <a:xfrm>
            <a:off x="658368" y="1664208"/>
            <a:ext cx="3886200" cy="1188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txBody>
          <a:bodyPr wrap="square" anchor="t" lIns="137160" tIns="137160" rIns="137160" bIns="137160"/>
          <a:lstStyle/>
          <a:p>
            <a:pPr algn="l">
              <a:buNone/>
            </a:pPr>
            <a:r>
              <a:rPr lang="ko-KR" sz="1150" dirty="0" b="1">
                <a:solidFill>
                  <a:srgbClr val="1D1D1F"/>
                </a:solidFill>
                <a:latin typeface="Aptos"/>
                <a:ea typeface="Aptos"/>
                <a:cs typeface="Aptos"/>
              </a:rPr>
              <a:t>Scenario</a:t>
            </a:r>
            <a:endParaRPr lang="ko-KR" sz="1150"/>
          </a:p>
          <a:p>
            <a:pPr algn="l">
              <a:buNone/>
            </a:pPr>
            <a:r>
              <a:rPr lang="ko-KR" sz="969" dirty="0">
                <a:solidFill>
                  <a:srgbClr val="6E6E73"/>
                </a:solidFill>
                <a:latin typeface="Aptos"/>
                <a:ea typeface="Aptos"/>
                <a:cs typeface="Aptos"/>
              </a:rPr>
              <a:t>과거 여러 대화방과 관련 문서를 함께 검색해 프로젝트/장애/의사결정 이력을 요약한다.</a:t>
            </a:r>
            <a:endParaRPr lang="ko-KR" sz="969"/>
          </a:p>
        </p:txBody>
      </p:sp>
      <p:sp>
        <p:nvSpPr>
          <p:cNvPr id="8" name="Main Flow"/>
          <p:cNvSpPr txBox="1"/>
          <p:nvPr/>
        </p:nvSpPr>
        <p:spPr>
          <a:xfrm>
            <a:off x="4736592" y="1664208"/>
            <a:ext cx="6693408" cy="212140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txBody>
          <a:bodyPr wrap="square" anchor="t" lIns="137160" tIns="137160" rIns="137160" bIns="137160"/>
          <a:lstStyle/>
          <a:p>
            <a:pPr algn="l">
              <a:buNone/>
            </a:pPr>
            <a:r>
              <a:rPr lang="ko-KR" sz="1150" dirty="0" b="1">
                <a:solidFill>
                  <a:srgbClr val="1D1D1F"/>
                </a:solidFill>
                <a:latin typeface="Aptos"/>
                <a:ea typeface="Aptos"/>
                <a:cs typeface="Aptos"/>
              </a:rPr>
              <a:t>Main Flow</a:t>
            </a:r>
            <a:endParaRPr lang="ko-KR" sz="1150"/>
          </a:p>
          <a:p>
            <a:pPr algn="l">
              <a:buNone/>
            </a:pPr>
            <a:r>
              <a:rPr lang="ko-KR" sz="890" dirty="0">
                <a:solidFill>
                  <a:srgbClr val="6E6E73"/>
                </a:solidFill>
                <a:latin typeface="Aptos"/>
                <a:ea typeface="Aptos"/>
                <a:cs typeface="Aptos"/>
              </a:rPr>
              <a:t>1. 프로젝트명, 인물, 기간, 이슈 키워드 추출</a:t>
            </a:r>
            <a:endParaRPr lang="ko-KR" sz="890"/>
          </a:p>
          <a:p>
            <a:pPr algn="l">
              <a:buNone/>
            </a:pPr>
            <a:r>
              <a:rPr lang="ko-KR" sz="890" dirty="0">
                <a:solidFill>
                  <a:srgbClr val="6E6E73"/>
                </a:solidFill>
                <a:latin typeface="Aptos"/>
                <a:ea typeface="Aptos"/>
                <a:cs typeface="Aptos"/>
              </a:rPr>
              <a:t>2. 사용자 접근 권한과 세션 참조 허용 정책 계산</a:t>
            </a:r>
            <a:endParaRPr lang="ko-KR" sz="890"/>
          </a:p>
          <a:p>
            <a:pPr algn="l">
              <a:buNone/>
            </a:pPr>
            <a:r>
              <a:rPr lang="ko-KR" sz="890" dirty="0">
                <a:solidFill>
                  <a:srgbClr val="6E6E73"/>
                </a:solidFill>
                <a:latin typeface="Aptos"/>
                <a:ea typeface="Aptos"/>
                <a:cs typeface="Aptos"/>
              </a:rPr>
              <a:t>3. Vector Search + Metadata Filtering</a:t>
            </a:r>
            <a:endParaRPr lang="ko-KR" sz="890"/>
          </a:p>
          <a:p>
            <a:pPr algn="l">
              <a:buNone/>
            </a:pPr>
            <a:r>
              <a:rPr lang="ko-KR" sz="890" dirty="0">
                <a:solidFill>
                  <a:srgbClr val="6E6E73"/>
                </a:solidFill>
                <a:latin typeface="Aptos"/>
                <a:ea typeface="Aptos"/>
                <a:cs typeface="Aptos"/>
              </a:rPr>
              <a:t>4. 관련도·시간 근접성·출처 신뢰도 Re-ranking</a:t>
            </a:r>
            <a:endParaRPr lang="ko-KR" sz="890"/>
          </a:p>
          <a:p>
            <a:pPr algn="l">
              <a:buNone/>
            </a:pPr>
            <a:r>
              <a:rPr lang="ko-KR" sz="890" dirty="0">
                <a:solidFill>
                  <a:srgbClr val="6E6E73"/>
                </a:solidFill>
                <a:latin typeface="Aptos"/>
                <a:ea typeface="Aptos"/>
                <a:cs typeface="Aptos"/>
              </a:rPr>
              <a:t>5. 시간순 요약과 사용 근거 출처 제공</a:t>
            </a:r>
            <a:endParaRPr lang="ko-KR" sz="890"/>
          </a:p>
        </p:txBody>
      </p:sp>
      <p:sp>
        <p:nvSpPr>
          <p:cNvPr id="9" name="Exceptions"/>
          <p:cNvSpPr txBox="1"/>
          <p:nvPr/>
        </p:nvSpPr>
        <p:spPr>
          <a:xfrm>
            <a:off x="658368" y="3127248"/>
            <a:ext cx="3886200" cy="1600200"/>
          </a:xfrm>
          <a:prstGeom prst="roundRect">
            <a:avLst/>
          </a:prstGeom>
          <a:solidFill>
            <a:srgbClr val="F5F5F7"/>
          </a:solidFill>
          <a:ln w="9525">
            <a:solidFill>
              <a:srgbClr val="E0E0E0"/>
            </a:solidFill>
          </a:ln>
        </p:spPr>
        <p:txBody>
          <a:bodyPr wrap="square" anchor="t" lIns="137160" tIns="137160" rIns="137160" bIns="137160"/>
          <a:lstStyle/>
          <a:p>
            <a:pPr algn="l">
              <a:buNone/>
            </a:pPr>
            <a:r>
              <a:rPr lang="ko-KR" sz="1150" dirty="0" b="1">
                <a:solidFill>
                  <a:srgbClr val="1D1D1F"/>
                </a:solidFill>
                <a:latin typeface="Aptos"/>
                <a:ea typeface="Aptos"/>
                <a:cs typeface="Aptos"/>
              </a:rPr>
              <a:t>Exception / Variation</a:t>
            </a:r>
            <a:endParaRPr lang="ko-KR" sz="1150"/>
          </a:p>
          <a:p>
            <a:pPr algn="l" marL="342900" indent="-171450">
              <a:buChar char="•"/>
            </a:pPr>
            <a:r>
              <a:rPr lang="ko-KR" sz="880" dirty="0">
                <a:solidFill>
                  <a:srgbClr val="6E6E73"/>
                </a:solidFill>
                <a:latin typeface="Aptos"/>
                <a:ea typeface="Aptos"/>
                <a:cs typeface="Aptos"/>
              </a:rPr>
              <a:t>접근 가능한 세션 없음</a:t>
            </a:r>
            <a:endParaRPr lang="ko-KR" sz="880"/>
          </a:p>
          <a:p>
            <a:pPr algn="l" marL="342900" indent="-171450">
              <a:buChar char="•"/>
            </a:pPr>
            <a:r>
              <a:rPr lang="ko-KR" sz="880" dirty="0">
                <a:solidFill>
                  <a:srgbClr val="6E6E73"/>
                </a:solidFill>
                <a:latin typeface="Aptos"/>
                <a:ea typeface="Aptos"/>
                <a:cs typeface="Aptos"/>
              </a:rPr>
              <a:t>기간/프로젝트명 모호</a:t>
            </a:r>
            <a:endParaRPr lang="ko-KR" sz="880"/>
          </a:p>
          <a:p>
            <a:pPr algn="l" marL="342900" indent="-171450">
              <a:buChar char="•"/>
            </a:pPr>
            <a:r>
              <a:rPr lang="ko-KR" sz="880" dirty="0">
                <a:solidFill>
                  <a:srgbClr val="6E6E73"/>
                </a:solidFill>
                <a:latin typeface="Aptos"/>
                <a:ea typeface="Aptos"/>
                <a:cs typeface="Aptos"/>
              </a:rPr>
              <a:t>근거 간 내용 충돌</a:t>
            </a:r>
            <a:endParaRPr lang="ko-KR" sz="880"/>
          </a:p>
        </p:txBody>
      </p:sp>
      <p:sp>
        <p:nvSpPr>
          <p:cNvPr id="10" name="Actor"/>
          <p:cNvSpPr txBox="1"/>
          <p:nvPr/>
        </p:nvSpPr>
        <p:spPr>
          <a:xfrm>
            <a:off x="4773168" y="4187952"/>
            <a:ext cx="841248" cy="256032"/>
          </a:xfrm>
          <a:prstGeom prst="roundRect">
            <a:avLst/>
          </a:prstGeom>
          <a:solidFill>
            <a:srgbClr val="0066CC"/>
          </a:solidFill>
          <a:ln>
            <a:noFill/>
          </a:ln>
        </p:spPr>
        <p:txBody>
          <a:bodyPr wrap="square" anchor="ctr" lIns="0" tIns="0" rIns="0" bIns="0"/>
          <a:lstStyle/>
          <a:p>
            <a:pPr algn="ctr">
              <a:buNone/>
            </a:pPr>
            <a:r>
              <a:rPr lang="ko-KR" sz="850" dirty="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Actor</a:t>
            </a:r>
            <a:endParaRPr lang="ko-KR" sz="850"/>
          </a:p>
        </p:txBody>
      </p:sp>
      <p:sp>
        <p:nvSpPr>
          <p:cNvPr id="11" name="Arrow"/>
          <p:cNvSpPr txBox="1"/>
          <p:nvPr/>
        </p:nvSpPr>
        <p:spPr>
          <a:xfrm>
            <a:off x="5660136" y="4178808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buNone/>
            </a:pPr>
            <a:r>
              <a:rPr lang="ko-KR" sz="1100" dirty="0" b="1">
                <a:solidFill>
                  <a:srgbClr val="0066CC"/>
                </a:solidFill>
                <a:latin typeface="Aptos"/>
                <a:ea typeface="Aptos"/>
                <a:cs typeface="Aptos"/>
              </a:rPr>
              <a:t>→</a:t>
            </a:r>
            <a:endParaRPr lang="ko-KR" sz="1100"/>
          </a:p>
        </p:txBody>
      </p:sp>
      <p:sp>
        <p:nvSpPr>
          <p:cNvPr id="12" name="Policy"/>
          <p:cNvSpPr txBox="1"/>
          <p:nvPr/>
        </p:nvSpPr>
        <p:spPr>
          <a:xfrm>
            <a:off x="6007608" y="4187952"/>
            <a:ext cx="841248" cy="256032"/>
          </a:xfrm>
          <a:prstGeom prst="roundRect">
            <a:avLst/>
          </a:prstGeom>
          <a:solidFill>
            <a:srgbClr val="0066CC"/>
          </a:solidFill>
          <a:ln>
            <a:noFill/>
          </a:ln>
        </p:spPr>
        <p:txBody>
          <a:bodyPr wrap="square" anchor="ctr" lIns="0" tIns="0" rIns="0" bIns="0"/>
          <a:lstStyle/>
          <a:p>
            <a:pPr algn="ctr">
              <a:buNone/>
            </a:pPr>
            <a:r>
              <a:rPr lang="ko-KR" sz="850" dirty="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Policy</a:t>
            </a:r>
            <a:endParaRPr lang="ko-KR" sz="850"/>
          </a:p>
        </p:txBody>
      </p:sp>
      <p:sp>
        <p:nvSpPr>
          <p:cNvPr id="13" name="Arrow"/>
          <p:cNvSpPr txBox="1"/>
          <p:nvPr/>
        </p:nvSpPr>
        <p:spPr>
          <a:xfrm>
            <a:off x="6894576" y="4178808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buNone/>
            </a:pPr>
            <a:r>
              <a:rPr lang="ko-KR" sz="1100" dirty="0" b="1">
                <a:solidFill>
                  <a:srgbClr val="0066CC"/>
                </a:solidFill>
                <a:latin typeface="Aptos"/>
                <a:ea typeface="Aptos"/>
                <a:cs typeface="Aptos"/>
              </a:rPr>
              <a:t>→</a:t>
            </a:r>
            <a:endParaRPr lang="ko-KR" sz="1100"/>
          </a:p>
        </p:txBody>
      </p:sp>
      <p:sp>
        <p:nvSpPr>
          <p:cNvPr id="14" name="Retrieve"/>
          <p:cNvSpPr txBox="1"/>
          <p:nvPr/>
        </p:nvSpPr>
        <p:spPr>
          <a:xfrm>
            <a:off x="7242048" y="4187952"/>
            <a:ext cx="841248" cy="256032"/>
          </a:xfrm>
          <a:prstGeom prst="roundRect">
            <a:avLst/>
          </a:prstGeom>
          <a:solidFill>
            <a:srgbClr val="0066CC"/>
          </a:solidFill>
          <a:ln>
            <a:noFill/>
          </a:ln>
        </p:spPr>
        <p:txBody>
          <a:bodyPr wrap="square" anchor="ctr" lIns="0" tIns="0" rIns="0" bIns="0"/>
          <a:lstStyle/>
          <a:p>
            <a:pPr algn="ctr">
              <a:buNone/>
            </a:pPr>
            <a:r>
              <a:rPr lang="ko-KR" sz="850" dirty="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Retrieve</a:t>
            </a:r>
            <a:endParaRPr lang="ko-KR" sz="850"/>
          </a:p>
        </p:txBody>
      </p:sp>
      <p:sp>
        <p:nvSpPr>
          <p:cNvPr id="15" name="Arrow"/>
          <p:cNvSpPr txBox="1"/>
          <p:nvPr/>
        </p:nvSpPr>
        <p:spPr>
          <a:xfrm>
            <a:off x="8129016" y="4178808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buNone/>
            </a:pPr>
            <a:r>
              <a:rPr lang="ko-KR" sz="1100" dirty="0" b="1">
                <a:solidFill>
                  <a:srgbClr val="0066CC"/>
                </a:solidFill>
                <a:latin typeface="Aptos"/>
                <a:ea typeface="Aptos"/>
                <a:cs typeface="Aptos"/>
              </a:rPr>
              <a:t>→</a:t>
            </a:r>
            <a:endParaRPr lang="ko-KR" sz="1100"/>
          </a:p>
        </p:txBody>
      </p:sp>
      <p:sp>
        <p:nvSpPr>
          <p:cNvPr id="16" name="Rerank"/>
          <p:cNvSpPr txBox="1"/>
          <p:nvPr/>
        </p:nvSpPr>
        <p:spPr>
          <a:xfrm>
            <a:off x="8476488" y="4187952"/>
            <a:ext cx="841248" cy="256032"/>
          </a:xfrm>
          <a:prstGeom prst="roundRect">
            <a:avLst/>
          </a:prstGeom>
          <a:solidFill>
            <a:srgbClr val="0066CC"/>
          </a:solidFill>
          <a:ln>
            <a:noFill/>
          </a:ln>
        </p:spPr>
        <p:txBody>
          <a:bodyPr wrap="square" anchor="ctr" lIns="0" tIns="0" rIns="0" bIns="0"/>
          <a:lstStyle/>
          <a:p>
            <a:pPr algn="ctr">
              <a:buNone/>
            </a:pPr>
            <a:r>
              <a:rPr lang="ko-KR" sz="850" dirty="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Rerank</a:t>
            </a:r>
            <a:endParaRPr lang="ko-KR" sz="850"/>
          </a:p>
        </p:txBody>
      </p:sp>
      <p:sp>
        <p:nvSpPr>
          <p:cNvPr id="17" name="Arrow"/>
          <p:cNvSpPr txBox="1"/>
          <p:nvPr/>
        </p:nvSpPr>
        <p:spPr>
          <a:xfrm>
            <a:off x="9363456" y="4178808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buNone/>
            </a:pPr>
            <a:r>
              <a:rPr lang="ko-KR" sz="1100" dirty="0" b="1">
                <a:solidFill>
                  <a:srgbClr val="0066CC"/>
                </a:solidFill>
                <a:latin typeface="Aptos"/>
                <a:ea typeface="Aptos"/>
                <a:cs typeface="Aptos"/>
              </a:rPr>
              <a:t>→</a:t>
            </a:r>
            <a:endParaRPr lang="ko-KR" sz="1100"/>
          </a:p>
        </p:txBody>
      </p:sp>
      <p:sp>
        <p:nvSpPr>
          <p:cNvPr id="18" name="Answer"/>
          <p:cNvSpPr txBox="1"/>
          <p:nvPr/>
        </p:nvSpPr>
        <p:spPr>
          <a:xfrm>
            <a:off x="9710928" y="4187952"/>
            <a:ext cx="841248" cy="256032"/>
          </a:xfrm>
          <a:prstGeom prst="roundRect">
            <a:avLst/>
          </a:prstGeom>
          <a:solidFill>
            <a:srgbClr val="0066CC"/>
          </a:solidFill>
          <a:ln>
            <a:noFill/>
          </a:ln>
        </p:spPr>
        <p:txBody>
          <a:bodyPr wrap="square" anchor="ctr" lIns="0" tIns="0" rIns="0" bIns="0"/>
          <a:lstStyle/>
          <a:p>
            <a:pPr algn="ctr">
              <a:buNone/>
            </a:pPr>
            <a:r>
              <a:rPr lang="ko-KR" sz="850" dirty="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Answer</a:t>
            </a:r>
            <a:endParaRPr lang="ko-KR" sz="850"/>
          </a:p>
        </p:txBody>
      </p:sp>
      <p:sp>
        <p:nvSpPr>
          <p:cNvPr id="19" name="FR"/>
          <p:cNvSpPr txBox="1"/>
          <p:nvPr/>
        </p:nvSpPr>
        <p:spPr>
          <a:xfrm>
            <a:off x="4736592" y="4773168"/>
            <a:ext cx="6693408" cy="786384"/>
          </a:xfrm>
          <a:prstGeom prst="roundRect">
            <a:avLst/>
          </a:prstGeom>
          <a:solidFill>
            <a:srgbClr val="F5F5F7"/>
          </a:solidFill>
          <a:ln w="9525">
            <a:solidFill>
              <a:srgbClr val="E0E0E0"/>
            </a:solidFill>
          </a:ln>
        </p:spPr>
        <p:txBody>
          <a:bodyPr wrap="square" anchor="t" lIns="137160" tIns="137160" rIns="137160" bIns="137160"/>
          <a:lstStyle/>
          <a:p>
            <a:pPr algn="l">
              <a:buNone/>
            </a:pPr>
            <a:r>
              <a:rPr lang="ko-KR" sz="1150" dirty="0" b="1">
                <a:solidFill>
                  <a:srgbClr val="1D1D1F"/>
                </a:solidFill>
                <a:latin typeface="Aptos"/>
                <a:ea typeface="Aptos"/>
                <a:cs typeface="Aptos"/>
              </a:rPr>
              <a:t>Related FR / QA</a:t>
            </a:r>
            <a:endParaRPr lang="ko-KR" sz="1150"/>
          </a:p>
          <a:p>
            <a:pPr algn="l">
              <a:buNone/>
            </a:pPr>
            <a:r>
              <a:rPr lang="ko-KR" sz="880" dirty="0">
                <a:solidFill>
                  <a:srgbClr val="6E6E73"/>
                </a:solidFill>
                <a:latin typeface="Aptos"/>
                <a:ea typeface="Aptos"/>
                <a:cs typeface="Aptos"/>
              </a:rPr>
              <a:t>FR-7, FR-8, FR-10, FR-11, FR-12, FR-13, FR-14, FR-16  ·  QA: Functional Suitability, Security, Performance Efficiency, Reliability, Maintainability 중 관련 항목 적용</a:t>
            </a:r>
            <a:endParaRPr lang="ko-KR" sz="880"/>
          </a:p>
        </p:txBody>
      </p:sp>
      <p:sp>
        <p:nvSpPr>
          <p:cNvPr id="20" name="Footer"/>
          <p:cNvSpPr txBox="1"/>
          <p:nvPr/>
        </p:nvSpPr>
        <p:spPr>
          <a:xfrm>
            <a:off x="658368" y="6473952"/>
            <a:ext cx="54864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buNone/>
            </a:pPr>
            <a:r>
              <a:rPr lang="ko-KR" sz="850" dirty="0">
                <a:solidFill>
                  <a:srgbClr val="6E6E73"/>
                </a:solidFill>
                <a:latin typeface="Aptos"/>
                <a:ea typeface="Aptos"/>
                <a:cs typeface="Aptos"/>
              </a:rPr>
              <a:t>SPRAG 기반 사내 메신저 AI Assistant Architecture</a:t>
            </a:r>
            <a:endParaRPr lang="ko-KR" sz="850"/>
          </a:p>
        </p:txBody>
      </p:sp>
      <p:sp>
        <p:nvSpPr>
          <p:cNvPr id="21" name="PageNo"/>
          <p:cNvSpPr txBox="1"/>
          <p:nvPr/>
        </p:nvSpPr>
        <p:spPr>
          <a:xfrm>
            <a:off x="10835640" y="6473952"/>
            <a:ext cx="713232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r">
              <a:buNone/>
            </a:pPr>
            <a:r>
              <a:rPr lang="ko-KR" sz="850" dirty="0">
                <a:solidFill>
                  <a:srgbClr val="6E6E73"/>
                </a:solidFill>
                <a:latin typeface="Aptos"/>
                <a:ea typeface="Aptos"/>
                <a:cs typeface="Aptos"/>
              </a:rPr>
              <a:t>07/12</a:t>
            </a:r>
            <a:endParaRPr lang="ko-KR" sz="85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72729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Chapter"/>
          <p:cNvSpPr txBox="1"/>
          <p:nvPr/>
        </p:nvSpPr>
        <p:spPr>
          <a:xfrm>
            <a:off x="658368" y="347472"/>
            <a:ext cx="310896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buNone/>
            </a:pPr>
            <a:r>
              <a:rPr lang="ko-KR" sz="1050" dirty="0" b="1">
                <a:solidFill>
                  <a:srgbClr val="2997FF"/>
                </a:solidFill>
                <a:latin typeface="Aptos"/>
                <a:ea typeface="Aptos"/>
                <a:cs typeface="Aptos"/>
              </a:rPr>
              <a:t>APPENDIX A.2</a:t>
            </a:r>
            <a:endParaRPr lang="ko-KR" sz="1050"/>
          </a:p>
        </p:txBody>
      </p:sp>
      <p:sp>
        <p:nvSpPr>
          <p:cNvPr id="5" name="Title"/>
          <p:cNvSpPr txBox="1"/>
          <p:nvPr/>
        </p:nvSpPr>
        <p:spPr>
          <a:xfrm>
            <a:off x="658368" y="658368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buNone/>
            </a:pPr>
            <a:r>
              <a:rPr lang="ko-KR" sz="2600" dirty="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사내 문서 기반 질의응답</a:t>
            </a:r>
            <a:endParaRPr lang="ko-KR" sz="2600"/>
          </a:p>
        </p:txBody>
      </p:sp>
      <p:sp>
        <p:nvSpPr>
          <p:cNvPr id="6" name="Subtitle"/>
          <p:cNvSpPr txBox="1"/>
          <p:nvPr/>
        </p:nvSpPr>
        <p:spPr>
          <a:xfrm>
            <a:off x="658368" y="1133856"/>
            <a:ext cx="969264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buNone/>
            </a:pPr>
            <a:r>
              <a:rPr lang="ko-KR" sz="1250" dirty="0">
                <a:solidFill>
                  <a:srgbClr val="CCCCCC"/>
                </a:solidFill>
                <a:latin typeface="Aptos"/>
                <a:ea typeface="Aptos"/>
                <a:cs typeface="Aptos"/>
              </a:rPr>
              <a:t>규정, API 명세, 운영 가이드, Jira 이슈 등 공식 데이터 원천을 중심으로 답변한다.</a:t>
            </a:r>
            <a:endParaRPr lang="ko-KR" sz="1250"/>
          </a:p>
        </p:txBody>
      </p:sp>
      <p:sp>
        <p:nvSpPr>
          <p:cNvPr id="7" name="Summary"/>
          <p:cNvSpPr txBox="1"/>
          <p:nvPr/>
        </p:nvSpPr>
        <p:spPr>
          <a:xfrm>
            <a:off x="658368" y="1664208"/>
            <a:ext cx="3886200" cy="1188720"/>
          </a:xfrm>
          <a:prstGeom prst="roundRect">
            <a:avLst/>
          </a:prstGeom>
          <a:solidFill>
            <a:srgbClr val="333336"/>
          </a:solidFill>
          <a:ln w="9525">
            <a:solidFill>
              <a:srgbClr val="56565A"/>
            </a:solidFill>
          </a:ln>
        </p:spPr>
        <p:txBody>
          <a:bodyPr wrap="square" anchor="t" lIns="137160" tIns="137160" rIns="137160" bIns="137160"/>
          <a:lstStyle/>
          <a:p>
            <a:pPr algn="l">
              <a:buNone/>
            </a:pPr>
            <a:r>
              <a:rPr lang="ko-KR" sz="1150" dirty="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Scenario</a:t>
            </a:r>
            <a:endParaRPr lang="ko-KR" sz="1150"/>
          </a:p>
          <a:p>
            <a:pPr algn="l">
              <a:buNone/>
            </a:pPr>
            <a:r>
              <a:rPr lang="ko-KR" sz="969" dirty="0">
                <a:solidFill>
                  <a:srgbClr val="CCCCCC"/>
                </a:solidFill>
                <a:latin typeface="Aptos"/>
                <a:ea typeface="Aptos"/>
                <a:cs typeface="Aptos"/>
              </a:rPr>
              <a:t>규정, API 명세, 운영 가이드, Jira 이슈 등 공식 데이터 원천을 중심으로 답변한다.</a:t>
            </a:r>
            <a:endParaRPr lang="ko-KR" sz="969"/>
          </a:p>
        </p:txBody>
      </p:sp>
      <p:sp>
        <p:nvSpPr>
          <p:cNvPr id="8" name="Main Flow"/>
          <p:cNvSpPr txBox="1"/>
          <p:nvPr/>
        </p:nvSpPr>
        <p:spPr>
          <a:xfrm>
            <a:off x="4736592" y="1664208"/>
            <a:ext cx="6693408" cy="2121408"/>
          </a:xfrm>
          <a:prstGeom prst="roundRect">
            <a:avLst/>
          </a:prstGeom>
          <a:solidFill>
            <a:srgbClr val="333336"/>
          </a:solidFill>
          <a:ln w="9525">
            <a:solidFill>
              <a:srgbClr val="56565A"/>
            </a:solidFill>
          </a:ln>
        </p:spPr>
        <p:txBody>
          <a:bodyPr wrap="square" anchor="t" lIns="137160" tIns="137160" rIns="137160" bIns="137160"/>
          <a:lstStyle/>
          <a:p>
            <a:pPr algn="l">
              <a:buNone/>
            </a:pPr>
            <a:r>
              <a:rPr lang="ko-KR" sz="1150" dirty="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Main Flow</a:t>
            </a:r>
            <a:endParaRPr lang="ko-KR" sz="1150"/>
          </a:p>
          <a:p>
            <a:pPr algn="l">
              <a:buNone/>
            </a:pPr>
            <a:r>
              <a:rPr lang="ko-KR" sz="890" dirty="0">
                <a:solidFill>
                  <a:srgbClr val="CCCCCC"/>
                </a:solidFill>
                <a:latin typeface="Aptos"/>
                <a:ea typeface="Aptos"/>
                <a:cs typeface="Aptos"/>
              </a:rPr>
              <a:t>1. 질의 유형을 공식 문서/Jira/대화 보조로 분류</a:t>
            </a:r>
            <a:endParaRPr lang="ko-KR" sz="890"/>
          </a:p>
          <a:p>
            <a:pPr algn="l">
              <a:buNone/>
            </a:pPr>
            <a:r>
              <a:rPr lang="ko-KR" sz="890" dirty="0">
                <a:solidFill>
                  <a:srgbClr val="CCCCCC"/>
                </a:solidFill>
                <a:latin typeface="Aptos"/>
                <a:ea typeface="Aptos"/>
                <a:cs typeface="Aptos"/>
              </a:rPr>
              <a:t>2. 사용자 권한 기준 검색 가능 문서 범위 계산</a:t>
            </a:r>
            <a:endParaRPr lang="ko-KR" sz="890"/>
          </a:p>
          <a:p>
            <a:pPr algn="l">
              <a:buNone/>
            </a:pPr>
            <a:r>
              <a:rPr lang="ko-KR" sz="890" dirty="0">
                <a:solidFill>
                  <a:srgbClr val="CCCCCC"/>
                </a:solidFill>
                <a:latin typeface="Aptos"/>
                <a:ea typeface="Aptos"/>
                <a:cs typeface="Aptos"/>
              </a:rPr>
              <a:t>3. 공식 문서 원천 우선 검색</a:t>
            </a:r>
            <a:endParaRPr lang="ko-KR" sz="890"/>
          </a:p>
          <a:p>
            <a:pPr algn="l">
              <a:buNone/>
            </a:pPr>
            <a:r>
              <a:rPr lang="ko-KR" sz="890" dirty="0">
                <a:solidFill>
                  <a:srgbClr val="CCCCCC"/>
                </a:solidFill>
                <a:latin typeface="Aptos"/>
                <a:ea typeface="Aptos"/>
                <a:cs typeface="Aptos"/>
              </a:rPr>
              <a:t>4. 최신성·문서 상태·Authority Score 반영</a:t>
            </a:r>
            <a:endParaRPr lang="ko-KR" sz="890"/>
          </a:p>
          <a:p>
            <a:pPr algn="l">
              <a:buNone/>
            </a:pPr>
            <a:r>
              <a:rPr lang="ko-KR" sz="890" dirty="0">
                <a:solidFill>
                  <a:srgbClr val="CCCCCC"/>
                </a:solidFill>
                <a:latin typeface="Aptos"/>
                <a:ea typeface="Aptos"/>
                <a:cs typeface="Aptos"/>
              </a:rPr>
              <a:t>5. 문서 링크, 버전, 업데이트 일자 제공</a:t>
            </a:r>
            <a:endParaRPr lang="ko-KR" sz="890"/>
          </a:p>
        </p:txBody>
      </p:sp>
      <p:sp>
        <p:nvSpPr>
          <p:cNvPr id="9" name="Exceptions"/>
          <p:cNvSpPr txBox="1"/>
          <p:nvPr/>
        </p:nvSpPr>
        <p:spPr>
          <a:xfrm>
            <a:off x="658368" y="3127248"/>
            <a:ext cx="3886200" cy="1600200"/>
          </a:xfrm>
          <a:prstGeom prst="roundRect">
            <a:avLst/>
          </a:prstGeom>
          <a:solidFill>
            <a:srgbClr val="3A3A3D"/>
          </a:solidFill>
          <a:ln w="9525">
            <a:solidFill>
              <a:srgbClr val="56565A"/>
            </a:solidFill>
          </a:ln>
        </p:spPr>
        <p:txBody>
          <a:bodyPr wrap="square" anchor="t" lIns="137160" tIns="137160" rIns="137160" bIns="137160"/>
          <a:lstStyle/>
          <a:p>
            <a:pPr algn="l">
              <a:buNone/>
            </a:pPr>
            <a:r>
              <a:rPr lang="ko-KR" sz="1150" dirty="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Exception / Variation</a:t>
            </a:r>
            <a:endParaRPr lang="ko-KR" sz="1150"/>
          </a:p>
          <a:p>
            <a:pPr algn="l" marL="342900" indent="-171450">
              <a:buChar char="•"/>
            </a:pPr>
            <a:r>
              <a:rPr lang="ko-KR" sz="880" dirty="0">
                <a:solidFill>
                  <a:srgbClr val="CCCCCC"/>
                </a:solidFill>
                <a:latin typeface="Aptos"/>
                <a:ea typeface="Aptos"/>
                <a:cs typeface="Aptos"/>
              </a:rPr>
              <a:t>공식 문서 없음</a:t>
            </a:r>
            <a:endParaRPr lang="ko-KR" sz="880"/>
          </a:p>
          <a:p>
            <a:pPr algn="l" marL="342900" indent="-171450">
              <a:buChar char="•"/>
            </a:pPr>
            <a:r>
              <a:rPr lang="ko-KR" sz="880" dirty="0">
                <a:solidFill>
                  <a:srgbClr val="CCCCCC"/>
                </a:solidFill>
                <a:latin typeface="Aptos"/>
                <a:ea typeface="Aptos"/>
                <a:cs typeface="Aptos"/>
              </a:rPr>
              <a:t>Deprecated 문서</a:t>
            </a:r>
            <a:endParaRPr lang="ko-KR" sz="880"/>
          </a:p>
          <a:p>
            <a:pPr algn="l" marL="342900" indent="-171450">
              <a:buChar char="•"/>
            </a:pPr>
            <a:r>
              <a:rPr lang="ko-KR" sz="880" dirty="0">
                <a:solidFill>
                  <a:srgbClr val="CCCCCC"/>
                </a:solidFill>
                <a:latin typeface="Aptos"/>
                <a:ea typeface="Aptos"/>
                <a:cs typeface="Aptos"/>
              </a:rPr>
              <a:t>접근 권한 없음</a:t>
            </a:r>
            <a:endParaRPr lang="ko-KR" sz="880"/>
          </a:p>
          <a:p>
            <a:pPr algn="l" marL="342900" indent="-171450">
              <a:buChar char="•"/>
            </a:pPr>
            <a:r>
              <a:rPr lang="ko-KR" sz="880" dirty="0">
                <a:solidFill>
                  <a:srgbClr val="CCCCCC"/>
                </a:solidFill>
                <a:latin typeface="Aptos"/>
                <a:ea typeface="Aptos"/>
                <a:cs typeface="Aptos"/>
              </a:rPr>
              <a:t>동일 주제 다중 버전</a:t>
            </a:r>
            <a:endParaRPr lang="ko-KR" sz="880"/>
          </a:p>
        </p:txBody>
      </p:sp>
      <p:sp>
        <p:nvSpPr>
          <p:cNvPr id="10" name="Actor"/>
          <p:cNvSpPr txBox="1"/>
          <p:nvPr/>
        </p:nvSpPr>
        <p:spPr>
          <a:xfrm>
            <a:off x="4773168" y="4187952"/>
            <a:ext cx="841248" cy="256032"/>
          </a:xfrm>
          <a:prstGeom prst="roundRect">
            <a:avLst/>
          </a:prstGeom>
          <a:solidFill>
            <a:srgbClr val="0066CC"/>
          </a:solidFill>
          <a:ln>
            <a:noFill/>
          </a:ln>
        </p:spPr>
        <p:txBody>
          <a:bodyPr wrap="square" anchor="ctr" lIns="0" tIns="0" rIns="0" bIns="0"/>
          <a:lstStyle/>
          <a:p>
            <a:pPr algn="ctr">
              <a:buNone/>
            </a:pPr>
            <a:r>
              <a:rPr lang="ko-KR" sz="850" dirty="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Actor</a:t>
            </a:r>
            <a:endParaRPr lang="ko-KR" sz="850"/>
          </a:p>
        </p:txBody>
      </p:sp>
      <p:sp>
        <p:nvSpPr>
          <p:cNvPr id="11" name="Arrow"/>
          <p:cNvSpPr txBox="1"/>
          <p:nvPr/>
        </p:nvSpPr>
        <p:spPr>
          <a:xfrm>
            <a:off x="5660136" y="4178808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buNone/>
            </a:pPr>
            <a:r>
              <a:rPr lang="ko-KR" sz="1100" dirty="0" b="1">
                <a:solidFill>
                  <a:srgbClr val="2997FF"/>
                </a:solidFill>
                <a:latin typeface="Aptos"/>
                <a:ea typeface="Aptos"/>
                <a:cs typeface="Aptos"/>
              </a:rPr>
              <a:t>→</a:t>
            </a:r>
            <a:endParaRPr lang="ko-KR" sz="1100"/>
          </a:p>
        </p:txBody>
      </p:sp>
      <p:sp>
        <p:nvSpPr>
          <p:cNvPr id="12" name="Policy"/>
          <p:cNvSpPr txBox="1"/>
          <p:nvPr/>
        </p:nvSpPr>
        <p:spPr>
          <a:xfrm>
            <a:off x="6007608" y="4187952"/>
            <a:ext cx="841248" cy="256032"/>
          </a:xfrm>
          <a:prstGeom prst="roundRect">
            <a:avLst/>
          </a:prstGeom>
          <a:solidFill>
            <a:srgbClr val="0066CC"/>
          </a:solidFill>
          <a:ln>
            <a:noFill/>
          </a:ln>
        </p:spPr>
        <p:txBody>
          <a:bodyPr wrap="square" anchor="ctr" lIns="0" tIns="0" rIns="0" bIns="0"/>
          <a:lstStyle/>
          <a:p>
            <a:pPr algn="ctr">
              <a:buNone/>
            </a:pPr>
            <a:r>
              <a:rPr lang="ko-KR" sz="850" dirty="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Policy</a:t>
            </a:r>
            <a:endParaRPr lang="ko-KR" sz="850"/>
          </a:p>
        </p:txBody>
      </p:sp>
      <p:sp>
        <p:nvSpPr>
          <p:cNvPr id="13" name="Arrow"/>
          <p:cNvSpPr txBox="1"/>
          <p:nvPr/>
        </p:nvSpPr>
        <p:spPr>
          <a:xfrm>
            <a:off x="6894576" y="4178808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buNone/>
            </a:pPr>
            <a:r>
              <a:rPr lang="ko-KR" sz="1100" dirty="0" b="1">
                <a:solidFill>
                  <a:srgbClr val="2997FF"/>
                </a:solidFill>
                <a:latin typeface="Aptos"/>
                <a:ea typeface="Aptos"/>
                <a:cs typeface="Aptos"/>
              </a:rPr>
              <a:t>→</a:t>
            </a:r>
            <a:endParaRPr lang="ko-KR" sz="1100"/>
          </a:p>
        </p:txBody>
      </p:sp>
      <p:sp>
        <p:nvSpPr>
          <p:cNvPr id="14" name="Retrieve"/>
          <p:cNvSpPr txBox="1"/>
          <p:nvPr/>
        </p:nvSpPr>
        <p:spPr>
          <a:xfrm>
            <a:off x="7242048" y="4187952"/>
            <a:ext cx="841248" cy="256032"/>
          </a:xfrm>
          <a:prstGeom prst="roundRect">
            <a:avLst/>
          </a:prstGeom>
          <a:solidFill>
            <a:srgbClr val="0066CC"/>
          </a:solidFill>
          <a:ln>
            <a:noFill/>
          </a:ln>
        </p:spPr>
        <p:txBody>
          <a:bodyPr wrap="square" anchor="ctr" lIns="0" tIns="0" rIns="0" bIns="0"/>
          <a:lstStyle/>
          <a:p>
            <a:pPr algn="ctr">
              <a:buNone/>
            </a:pPr>
            <a:r>
              <a:rPr lang="ko-KR" sz="850" dirty="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Retrieve</a:t>
            </a:r>
            <a:endParaRPr lang="ko-KR" sz="850"/>
          </a:p>
        </p:txBody>
      </p:sp>
      <p:sp>
        <p:nvSpPr>
          <p:cNvPr id="15" name="Arrow"/>
          <p:cNvSpPr txBox="1"/>
          <p:nvPr/>
        </p:nvSpPr>
        <p:spPr>
          <a:xfrm>
            <a:off x="8129016" y="4178808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buNone/>
            </a:pPr>
            <a:r>
              <a:rPr lang="ko-KR" sz="1100" dirty="0" b="1">
                <a:solidFill>
                  <a:srgbClr val="2997FF"/>
                </a:solidFill>
                <a:latin typeface="Aptos"/>
                <a:ea typeface="Aptos"/>
                <a:cs typeface="Aptos"/>
              </a:rPr>
              <a:t>→</a:t>
            </a:r>
            <a:endParaRPr lang="ko-KR" sz="1100"/>
          </a:p>
        </p:txBody>
      </p:sp>
      <p:sp>
        <p:nvSpPr>
          <p:cNvPr id="16" name="Rerank"/>
          <p:cNvSpPr txBox="1"/>
          <p:nvPr/>
        </p:nvSpPr>
        <p:spPr>
          <a:xfrm>
            <a:off x="8476488" y="4187952"/>
            <a:ext cx="841248" cy="256032"/>
          </a:xfrm>
          <a:prstGeom prst="roundRect">
            <a:avLst/>
          </a:prstGeom>
          <a:solidFill>
            <a:srgbClr val="0066CC"/>
          </a:solidFill>
          <a:ln>
            <a:noFill/>
          </a:ln>
        </p:spPr>
        <p:txBody>
          <a:bodyPr wrap="square" anchor="ctr" lIns="0" tIns="0" rIns="0" bIns="0"/>
          <a:lstStyle/>
          <a:p>
            <a:pPr algn="ctr">
              <a:buNone/>
            </a:pPr>
            <a:r>
              <a:rPr lang="ko-KR" sz="850" dirty="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Rerank</a:t>
            </a:r>
            <a:endParaRPr lang="ko-KR" sz="850"/>
          </a:p>
        </p:txBody>
      </p:sp>
      <p:sp>
        <p:nvSpPr>
          <p:cNvPr id="17" name="Arrow"/>
          <p:cNvSpPr txBox="1"/>
          <p:nvPr/>
        </p:nvSpPr>
        <p:spPr>
          <a:xfrm>
            <a:off x="9363456" y="4178808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buNone/>
            </a:pPr>
            <a:r>
              <a:rPr lang="ko-KR" sz="1100" dirty="0" b="1">
                <a:solidFill>
                  <a:srgbClr val="2997FF"/>
                </a:solidFill>
                <a:latin typeface="Aptos"/>
                <a:ea typeface="Aptos"/>
                <a:cs typeface="Aptos"/>
              </a:rPr>
              <a:t>→</a:t>
            </a:r>
            <a:endParaRPr lang="ko-KR" sz="1100"/>
          </a:p>
        </p:txBody>
      </p:sp>
      <p:sp>
        <p:nvSpPr>
          <p:cNvPr id="18" name="Answer"/>
          <p:cNvSpPr txBox="1"/>
          <p:nvPr/>
        </p:nvSpPr>
        <p:spPr>
          <a:xfrm>
            <a:off x="9710928" y="4187952"/>
            <a:ext cx="841248" cy="256032"/>
          </a:xfrm>
          <a:prstGeom prst="roundRect">
            <a:avLst/>
          </a:prstGeom>
          <a:solidFill>
            <a:srgbClr val="0066CC"/>
          </a:solidFill>
          <a:ln>
            <a:noFill/>
          </a:ln>
        </p:spPr>
        <p:txBody>
          <a:bodyPr wrap="square" anchor="ctr" lIns="0" tIns="0" rIns="0" bIns="0"/>
          <a:lstStyle/>
          <a:p>
            <a:pPr algn="ctr">
              <a:buNone/>
            </a:pPr>
            <a:r>
              <a:rPr lang="ko-KR" sz="850" dirty="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Answer</a:t>
            </a:r>
            <a:endParaRPr lang="ko-KR" sz="850"/>
          </a:p>
        </p:txBody>
      </p:sp>
      <p:sp>
        <p:nvSpPr>
          <p:cNvPr id="19" name="FR"/>
          <p:cNvSpPr txBox="1"/>
          <p:nvPr/>
        </p:nvSpPr>
        <p:spPr>
          <a:xfrm>
            <a:off x="4736592" y="4773168"/>
            <a:ext cx="6693408" cy="786384"/>
          </a:xfrm>
          <a:prstGeom prst="roundRect">
            <a:avLst/>
          </a:prstGeom>
          <a:solidFill>
            <a:srgbClr val="3A3A3D"/>
          </a:solidFill>
          <a:ln w="9525">
            <a:solidFill>
              <a:srgbClr val="56565A"/>
            </a:solidFill>
          </a:ln>
        </p:spPr>
        <p:txBody>
          <a:bodyPr wrap="square" anchor="t" lIns="137160" tIns="137160" rIns="137160" bIns="137160"/>
          <a:lstStyle/>
          <a:p>
            <a:pPr algn="l">
              <a:buNone/>
            </a:pPr>
            <a:r>
              <a:rPr lang="ko-KR" sz="1150" dirty="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Related FR / QA</a:t>
            </a:r>
            <a:endParaRPr lang="ko-KR" sz="1150"/>
          </a:p>
          <a:p>
            <a:pPr algn="l">
              <a:buNone/>
            </a:pPr>
            <a:r>
              <a:rPr lang="ko-KR" sz="880" dirty="0">
                <a:solidFill>
                  <a:srgbClr val="CCCCCC"/>
                </a:solidFill>
                <a:latin typeface="Aptos"/>
                <a:ea typeface="Aptos"/>
                <a:cs typeface="Aptos"/>
              </a:rPr>
              <a:t>FR-1, FR-2, FR-5, FR-10, FR-11, FR-12, FR-14, FR-15  ·  QA: Functional Suitability, Security, Performance Efficiency, Reliability, Maintainability 중 관련 항목 적용</a:t>
            </a:r>
            <a:endParaRPr lang="ko-KR" sz="880"/>
          </a:p>
        </p:txBody>
      </p:sp>
      <p:sp>
        <p:nvSpPr>
          <p:cNvPr id="20" name="Footer"/>
          <p:cNvSpPr txBox="1"/>
          <p:nvPr/>
        </p:nvSpPr>
        <p:spPr>
          <a:xfrm>
            <a:off x="658368" y="6473952"/>
            <a:ext cx="54864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buNone/>
            </a:pPr>
            <a:r>
              <a:rPr lang="ko-KR" sz="850" dirty="0">
                <a:solidFill>
                  <a:srgbClr val="CCCCCC"/>
                </a:solidFill>
                <a:latin typeface="Aptos"/>
                <a:ea typeface="Aptos"/>
                <a:cs typeface="Aptos"/>
              </a:rPr>
              <a:t>SPRAG 기반 사내 메신저 AI Assistant Architecture</a:t>
            </a:r>
            <a:endParaRPr lang="ko-KR" sz="850"/>
          </a:p>
        </p:txBody>
      </p:sp>
      <p:sp>
        <p:nvSpPr>
          <p:cNvPr id="21" name="PageNo"/>
          <p:cNvSpPr txBox="1"/>
          <p:nvPr/>
        </p:nvSpPr>
        <p:spPr>
          <a:xfrm>
            <a:off x="10835640" y="6473952"/>
            <a:ext cx="713232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r">
              <a:buNone/>
            </a:pPr>
            <a:r>
              <a:rPr lang="ko-KR" sz="850" dirty="0">
                <a:solidFill>
                  <a:srgbClr val="CCCCCC"/>
                </a:solidFill>
                <a:latin typeface="Aptos"/>
                <a:ea typeface="Aptos"/>
                <a:cs typeface="Aptos"/>
              </a:rPr>
              <a:t>08/12</a:t>
            </a:r>
            <a:endParaRPr lang="ko-KR" sz="85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Chapter"/>
          <p:cNvSpPr txBox="1"/>
          <p:nvPr/>
        </p:nvSpPr>
        <p:spPr>
          <a:xfrm>
            <a:off x="658368" y="347472"/>
            <a:ext cx="310896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buNone/>
            </a:pPr>
            <a:r>
              <a:rPr lang="ko-KR" sz="1050" dirty="0" b="1">
                <a:solidFill>
                  <a:srgbClr val="0066CC"/>
                </a:solidFill>
                <a:latin typeface="Aptos"/>
                <a:ea typeface="Aptos"/>
                <a:cs typeface="Aptos"/>
              </a:rPr>
              <a:t>APPENDIX A.3</a:t>
            </a:r>
            <a:endParaRPr lang="ko-KR" sz="1050"/>
          </a:p>
        </p:txBody>
      </p:sp>
      <p:sp>
        <p:nvSpPr>
          <p:cNvPr id="5" name="Title"/>
          <p:cNvSpPr txBox="1"/>
          <p:nvPr/>
        </p:nvSpPr>
        <p:spPr>
          <a:xfrm>
            <a:off x="658368" y="658368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buNone/>
            </a:pPr>
            <a:r>
              <a:rPr lang="ko-KR" sz="2600" dirty="0" b="1">
                <a:solidFill>
                  <a:srgbClr val="1D1D1F"/>
                </a:solidFill>
                <a:latin typeface="Aptos"/>
                <a:ea typeface="Aptos"/>
                <a:cs typeface="Aptos"/>
              </a:rPr>
              <a:t>그룹 채팅 컨텍스트 지원</a:t>
            </a:r>
            <a:endParaRPr lang="ko-KR" sz="2600"/>
          </a:p>
        </p:txBody>
      </p:sp>
      <p:sp>
        <p:nvSpPr>
          <p:cNvPr id="6" name="Subtitle"/>
          <p:cNvSpPr txBox="1"/>
          <p:nvPr/>
        </p:nvSpPr>
        <p:spPr>
          <a:xfrm>
            <a:off x="658368" y="1133856"/>
            <a:ext cx="969264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buNone/>
            </a:pPr>
            <a:r>
              <a:rPr lang="ko-KR" sz="1250" dirty="0">
                <a:solidFill>
                  <a:srgbClr val="6E6E73"/>
                </a:solidFill>
                <a:latin typeface="Aptos"/>
                <a:ea typeface="Aptos"/>
                <a:cs typeface="Aptos"/>
              </a:rPr>
              <a:t>그룹 참여자 모두에게 노출 가능한 근거만 사용하여 현재 논의를 지원한다.</a:t>
            </a:r>
            <a:endParaRPr lang="ko-KR" sz="1250"/>
          </a:p>
        </p:txBody>
      </p:sp>
      <p:sp>
        <p:nvSpPr>
          <p:cNvPr id="7" name="Summary"/>
          <p:cNvSpPr txBox="1"/>
          <p:nvPr/>
        </p:nvSpPr>
        <p:spPr>
          <a:xfrm>
            <a:off x="658368" y="1664208"/>
            <a:ext cx="3886200" cy="1188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txBody>
          <a:bodyPr wrap="square" anchor="t" lIns="137160" tIns="137160" rIns="137160" bIns="137160"/>
          <a:lstStyle/>
          <a:p>
            <a:pPr algn="l">
              <a:buNone/>
            </a:pPr>
            <a:r>
              <a:rPr lang="ko-KR" sz="1150" dirty="0" b="1">
                <a:solidFill>
                  <a:srgbClr val="1D1D1F"/>
                </a:solidFill>
                <a:latin typeface="Aptos"/>
                <a:ea typeface="Aptos"/>
                <a:cs typeface="Aptos"/>
              </a:rPr>
              <a:t>Scenario</a:t>
            </a:r>
            <a:endParaRPr lang="ko-KR" sz="1150"/>
          </a:p>
          <a:p>
            <a:pPr algn="l">
              <a:buNone/>
            </a:pPr>
            <a:r>
              <a:rPr lang="ko-KR" sz="969" dirty="0">
                <a:solidFill>
                  <a:srgbClr val="6E6E73"/>
                </a:solidFill>
                <a:latin typeface="Aptos"/>
                <a:ea typeface="Aptos"/>
                <a:cs typeface="Aptos"/>
              </a:rPr>
              <a:t>그룹 참여자 모두에게 노출 가능한 근거만 사용하여 현재 논의를 지원한다.</a:t>
            </a:r>
            <a:endParaRPr lang="ko-KR" sz="969"/>
          </a:p>
        </p:txBody>
      </p:sp>
      <p:sp>
        <p:nvSpPr>
          <p:cNvPr id="8" name="Main Flow"/>
          <p:cNvSpPr txBox="1"/>
          <p:nvPr/>
        </p:nvSpPr>
        <p:spPr>
          <a:xfrm>
            <a:off x="4736592" y="1664208"/>
            <a:ext cx="6693408" cy="212140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txBody>
          <a:bodyPr wrap="square" anchor="t" lIns="137160" tIns="137160" rIns="137160" bIns="137160"/>
          <a:lstStyle/>
          <a:p>
            <a:pPr algn="l">
              <a:buNone/>
            </a:pPr>
            <a:r>
              <a:rPr lang="ko-KR" sz="1150" dirty="0" b="1">
                <a:solidFill>
                  <a:srgbClr val="1D1D1F"/>
                </a:solidFill>
                <a:latin typeface="Aptos"/>
                <a:ea typeface="Aptos"/>
                <a:cs typeface="Aptos"/>
              </a:rPr>
              <a:t>Main Flow</a:t>
            </a:r>
            <a:endParaRPr lang="ko-KR" sz="1150"/>
          </a:p>
          <a:p>
            <a:pPr algn="l">
              <a:buNone/>
            </a:pPr>
            <a:r>
              <a:rPr lang="ko-KR" sz="890" dirty="0">
                <a:solidFill>
                  <a:srgbClr val="6E6E73"/>
                </a:solidFill>
                <a:latin typeface="Aptos"/>
                <a:ea typeface="Aptos"/>
                <a:cs typeface="Aptos"/>
              </a:rPr>
              <a:t>1. 참여자 목록과 각 참여자 권한 조회</a:t>
            </a:r>
            <a:endParaRPr lang="ko-KR" sz="890"/>
          </a:p>
          <a:p>
            <a:pPr algn="l">
              <a:buNone/>
            </a:pPr>
            <a:r>
              <a:rPr lang="ko-KR" sz="890" dirty="0">
                <a:solidFill>
                  <a:srgbClr val="6E6E73"/>
                </a:solidFill>
                <a:latin typeface="Aptos"/>
                <a:ea typeface="Aptos"/>
                <a:cs typeface="Aptos"/>
              </a:rPr>
              <a:t>2. 공식 문서는 참여자 전원 접근 가능 범위로 제한</a:t>
            </a:r>
            <a:endParaRPr lang="ko-KR" sz="890"/>
          </a:p>
          <a:p>
            <a:pPr algn="l">
              <a:buNone/>
            </a:pPr>
            <a:r>
              <a:rPr lang="ko-KR" sz="890" dirty="0">
                <a:solidFill>
                  <a:srgbClr val="6E6E73"/>
                </a:solidFill>
                <a:latin typeface="Aptos"/>
                <a:ea typeface="Aptos"/>
                <a:cs typeface="Aptos"/>
              </a:rPr>
              <a:t>3. 개인/소규모 세션은 공유 허용 여부 확인</a:t>
            </a:r>
            <a:endParaRPr lang="ko-KR" sz="890"/>
          </a:p>
          <a:p>
            <a:pPr algn="l">
              <a:buNone/>
            </a:pPr>
            <a:r>
              <a:rPr lang="ko-KR" sz="890" dirty="0">
                <a:solidFill>
                  <a:srgbClr val="6E6E73"/>
                </a:solidFill>
                <a:latin typeface="Aptos"/>
                <a:ea typeface="Aptos"/>
                <a:cs typeface="Aptos"/>
              </a:rPr>
              <a:t>4. 최종 Metadata Filter 생성</a:t>
            </a:r>
            <a:endParaRPr lang="ko-KR" sz="890"/>
          </a:p>
          <a:p>
            <a:pPr algn="l">
              <a:buNone/>
            </a:pPr>
            <a:r>
              <a:rPr lang="ko-KR" sz="890" dirty="0">
                <a:solidFill>
                  <a:srgbClr val="6E6E73"/>
                </a:solidFill>
                <a:latin typeface="Aptos"/>
                <a:ea typeface="Aptos"/>
                <a:cs typeface="Aptos"/>
              </a:rPr>
              <a:t>5. 그룹 전체에 공개 가능한 답변 생성</a:t>
            </a:r>
            <a:endParaRPr lang="ko-KR" sz="890"/>
          </a:p>
        </p:txBody>
      </p:sp>
      <p:sp>
        <p:nvSpPr>
          <p:cNvPr id="9" name="Exceptions"/>
          <p:cNvSpPr txBox="1"/>
          <p:nvPr/>
        </p:nvSpPr>
        <p:spPr>
          <a:xfrm>
            <a:off x="658368" y="3127248"/>
            <a:ext cx="3886200" cy="1600200"/>
          </a:xfrm>
          <a:prstGeom prst="roundRect">
            <a:avLst/>
          </a:prstGeom>
          <a:solidFill>
            <a:srgbClr val="F5F5F7"/>
          </a:solidFill>
          <a:ln w="9525">
            <a:solidFill>
              <a:srgbClr val="E0E0E0"/>
            </a:solidFill>
          </a:ln>
        </p:spPr>
        <p:txBody>
          <a:bodyPr wrap="square" anchor="t" lIns="137160" tIns="137160" rIns="137160" bIns="137160"/>
          <a:lstStyle/>
          <a:p>
            <a:pPr algn="l">
              <a:buNone/>
            </a:pPr>
            <a:r>
              <a:rPr lang="ko-KR" sz="1150" dirty="0" b="1">
                <a:solidFill>
                  <a:srgbClr val="1D1D1F"/>
                </a:solidFill>
                <a:latin typeface="Aptos"/>
                <a:ea typeface="Aptos"/>
                <a:cs typeface="Aptos"/>
              </a:rPr>
              <a:t>Exception / Variation</a:t>
            </a:r>
            <a:endParaRPr lang="ko-KR" sz="1150"/>
          </a:p>
          <a:p>
            <a:pPr algn="l" marL="342900" indent="-171450">
              <a:buChar char="•"/>
            </a:pPr>
            <a:r>
              <a:rPr lang="ko-KR" sz="880" dirty="0">
                <a:solidFill>
                  <a:srgbClr val="6E6E73"/>
                </a:solidFill>
                <a:latin typeface="Aptos"/>
                <a:ea typeface="Aptos"/>
                <a:cs typeface="Aptos"/>
              </a:rPr>
              <a:t>참여자 간 권한 차이</a:t>
            </a:r>
            <a:endParaRPr lang="ko-KR" sz="880"/>
          </a:p>
          <a:p>
            <a:pPr algn="l" marL="342900" indent="-171450">
              <a:buChar char="•"/>
            </a:pPr>
            <a:r>
              <a:rPr lang="ko-KR" sz="880" dirty="0">
                <a:solidFill>
                  <a:srgbClr val="6E6E73"/>
                </a:solidFill>
                <a:latin typeface="Aptos"/>
                <a:ea typeface="Aptos"/>
                <a:cs typeface="Aptos"/>
              </a:rPr>
              <a:t>질문자만 볼 수 있는 문서</a:t>
            </a:r>
            <a:endParaRPr lang="ko-KR" sz="880"/>
          </a:p>
          <a:p>
            <a:pPr algn="l" marL="342900" indent="-171450">
              <a:buChar char="•"/>
            </a:pPr>
            <a:r>
              <a:rPr lang="ko-KR" sz="880" dirty="0">
                <a:solidFill>
                  <a:srgbClr val="6E6E73"/>
                </a:solidFill>
                <a:latin typeface="Aptos"/>
                <a:ea typeface="Aptos"/>
                <a:cs typeface="Aptos"/>
              </a:rPr>
              <a:t>참여자 변동</a:t>
            </a:r>
            <a:endParaRPr lang="ko-KR" sz="880"/>
          </a:p>
          <a:p>
            <a:pPr algn="l" marL="342900" indent="-171450">
              <a:buChar char="•"/>
            </a:pPr>
            <a:r>
              <a:rPr lang="ko-KR" sz="880" dirty="0">
                <a:solidFill>
                  <a:srgbClr val="6E6E73"/>
                </a:solidFill>
                <a:latin typeface="Aptos"/>
                <a:ea typeface="Aptos"/>
                <a:cs typeface="Aptos"/>
              </a:rPr>
              <a:t>개인 세션 노출 위험</a:t>
            </a:r>
            <a:endParaRPr lang="ko-KR" sz="880"/>
          </a:p>
        </p:txBody>
      </p:sp>
      <p:sp>
        <p:nvSpPr>
          <p:cNvPr id="10" name="Actor"/>
          <p:cNvSpPr txBox="1"/>
          <p:nvPr/>
        </p:nvSpPr>
        <p:spPr>
          <a:xfrm>
            <a:off x="4773168" y="4187952"/>
            <a:ext cx="841248" cy="256032"/>
          </a:xfrm>
          <a:prstGeom prst="roundRect">
            <a:avLst/>
          </a:prstGeom>
          <a:solidFill>
            <a:srgbClr val="0066CC"/>
          </a:solidFill>
          <a:ln>
            <a:noFill/>
          </a:ln>
        </p:spPr>
        <p:txBody>
          <a:bodyPr wrap="square" anchor="ctr" lIns="0" tIns="0" rIns="0" bIns="0"/>
          <a:lstStyle/>
          <a:p>
            <a:pPr algn="ctr">
              <a:buNone/>
            </a:pPr>
            <a:r>
              <a:rPr lang="ko-KR" sz="850" dirty="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Actor</a:t>
            </a:r>
            <a:endParaRPr lang="ko-KR" sz="850"/>
          </a:p>
        </p:txBody>
      </p:sp>
      <p:sp>
        <p:nvSpPr>
          <p:cNvPr id="11" name="Arrow"/>
          <p:cNvSpPr txBox="1"/>
          <p:nvPr/>
        </p:nvSpPr>
        <p:spPr>
          <a:xfrm>
            <a:off x="5660136" y="4178808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buNone/>
            </a:pPr>
            <a:r>
              <a:rPr lang="ko-KR" sz="1100" dirty="0" b="1">
                <a:solidFill>
                  <a:srgbClr val="0066CC"/>
                </a:solidFill>
                <a:latin typeface="Aptos"/>
                <a:ea typeface="Aptos"/>
                <a:cs typeface="Aptos"/>
              </a:rPr>
              <a:t>→</a:t>
            </a:r>
            <a:endParaRPr lang="ko-KR" sz="1100"/>
          </a:p>
        </p:txBody>
      </p:sp>
      <p:sp>
        <p:nvSpPr>
          <p:cNvPr id="12" name="Policy"/>
          <p:cNvSpPr txBox="1"/>
          <p:nvPr/>
        </p:nvSpPr>
        <p:spPr>
          <a:xfrm>
            <a:off x="6007608" y="4187952"/>
            <a:ext cx="841248" cy="256032"/>
          </a:xfrm>
          <a:prstGeom prst="roundRect">
            <a:avLst/>
          </a:prstGeom>
          <a:solidFill>
            <a:srgbClr val="0066CC"/>
          </a:solidFill>
          <a:ln>
            <a:noFill/>
          </a:ln>
        </p:spPr>
        <p:txBody>
          <a:bodyPr wrap="square" anchor="ctr" lIns="0" tIns="0" rIns="0" bIns="0"/>
          <a:lstStyle/>
          <a:p>
            <a:pPr algn="ctr">
              <a:buNone/>
            </a:pPr>
            <a:r>
              <a:rPr lang="ko-KR" sz="850" dirty="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Policy</a:t>
            </a:r>
            <a:endParaRPr lang="ko-KR" sz="850"/>
          </a:p>
        </p:txBody>
      </p:sp>
      <p:sp>
        <p:nvSpPr>
          <p:cNvPr id="13" name="Arrow"/>
          <p:cNvSpPr txBox="1"/>
          <p:nvPr/>
        </p:nvSpPr>
        <p:spPr>
          <a:xfrm>
            <a:off x="6894576" y="4178808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buNone/>
            </a:pPr>
            <a:r>
              <a:rPr lang="ko-KR" sz="1100" dirty="0" b="1">
                <a:solidFill>
                  <a:srgbClr val="0066CC"/>
                </a:solidFill>
                <a:latin typeface="Aptos"/>
                <a:ea typeface="Aptos"/>
                <a:cs typeface="Aptos"/>
              </a:rPr>
              <a:t>→</a:t>
            </a:r>
            <a:endParaRPr lang="ko-KR" sz="1100"/>
          </a:p>
        </p:txBody>
      </p:sp>
      <p:sp>
        <p:nvSpPr>
          <p:cNvPr id="14" name="Retrieve"/>
          <p:cNvSpPr txBox="1"/>
          <p:nvPr/>
        </p:nvSpPr>
        <p:spPr>
          <a:xfrm>
            <a:off x="7242048" y="4187952"/>
            <a:ext cx="841248" cy="256032"/>
          </a:xfrm>
          <a:prstGeom prst="roundRect">
            <a:avLst/>
          </a:prstGeom>
          <a:solidFill>
            <a:srgbClr val="0066CC"/>
          </a:solidFill>
          <a:ln>
            <a:noFill/>
          </a:ln>
        </p:spPr>
        <p:txBody>
          <a:bodyPr wrap="square" anchor="ctr" lIns="0" tIns="0" rIns="0" bIns="0"/>
          <a:lstStyle/>
          <a:p>
            <a:pPr algn="ctr">
              <a:buNone/>
            </a:pPr>
            <a:r>
              <a:rPr lang="ko-KR" sz="850" dirty="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Retrieve</a:t>
            </a:r>
            <a:endParaRPr lang="ko-KR" sz="850"/>
          </a:p>
        </p:txBody>
      </p:sp>
      <p:sp>
        <p:nvSpPr>
          <p:cNvPr id="15" name="Arrow"/>
          <p:cNvSpPr txBox="1"/>
          <p:nvPr/>
        </p:nvSpPr>
        <p:spPr>
          <a:xfrm>
            <a:off x="8129016" y="4178808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buNone/>
            </a:pPr>
            <a:r>
              <a:rPr lang="ko-KR" sz="1100" dirty="0" b="1">
                <a:solidFill>
                  <a:srgbClr val="0066CC"/>
                </a:solidFill>
                <a:latin typeface="Aptos"/>
                <a:ea typeface="Aptos"/>
                <a:cs typeface="Aptos"/>
              </a:rPr>
              <a:t>→</a:t>
            </a:r>
            <a:endParaRPr lang="ko-KR" sz="1100"/>
          </a:p>
        </p:txBody>
      </p:sp>
      <p:sp>
        <p:nvSpPr>
          <p:cNvPr id="16" name="Rerank"/>
          <p:cNvSpPr txBox="1"/>
          <p:nvPr/>
        </p:nvSpPr>
        <p:spPr>
          <a:xfrm>
            <a:off x="8476488" y="4187952"/>
            <a:ext cx="841248" cy="256032"/>
          </a:xfrm>
          <a:prstGeom prst="roundRect">
            <a:avLst/>
          </a:prstGeom>
          <a:solidFill>
            <a:srgbClr val="0066CC"/>
          </a:solidFill>
          <a:ln>
            <a:noFill/>
          </a:ln>
        </p:spPr>
        <p:txBody>
          <a:bodyPr wrap="square" anchor="ctr" lIns="0" tIns="0" rIns="0" bIns="0"/>
          <a:lstStyle/>
          <a:p>
            <a:pPr algn="ctr">
              <a:buNone/>
            </a:pPr>
            <a:r>
              <a:rPr lang="ko-KR" sz="850" dirty="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Rerank</a:t>
            </a:r>
            <a:endParaRPr lang="ko-KR" sz="850"/>
          </a:p>
        </p:txBody>
      </p:sp>
      <p:sp>
        <p:nvSpPr>
          <p:cNvPr id="17" name="Arrow"/>
          <p:cNvSpPr txBox="1"/>
          <p:nvPr/>
        </p:nvSpPr>
        <p:spPr>
          <a:xfrm>
            <a:off x="9363456" y="4178808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buNone/>
            </a:pPr>
            <a:r>
              <a:rPr lang="ko-KR" sz="1100" dirty="0" b="1">
                <a:solidFill>
                  <a:srgbClr val="0066CC"/>
                </a:solidFill>
                <a:latin typeface="Aptos"/>
                <a:ea typeface="Aptos"/>
                <a:cs typeface="Aptos"/>
              </a:rPr>
              <a:t>→</a:t>
            </a:r>
            <a:endParaRPr lang="ko-KR" sz="1100"/>
          </a:p>
        </p:txBody>
      </p:sp>
      <p:sp>
        <p:nvSpPr>
          <p:cNvPr id="18" name="Answer"/>
          <p:cNvSpPr txBox="1"/>
          <p:nvPr/>
        </p:nvSpPr>
        <p:spPr>
          <a:xfrm>
            <a:off x="9710928" y="4187952"/>
            <a:ext cx="841248" cy="256032"/>
          </a:xfrm>
          <a:prstGeom prst="roundRect">
            <a:avLst/>
          </a:prstGeom>
          <a:solidFill>
            <a:srgbClr val="0066CC"/>
          </a:solidFill>
          <a:ln>
            <a:noFill/>
          </a:ln>
        </p:spPr>
        <p:txBody>
          <a:bodyPr wrap="square" anchor="ctr" lIns="0" tIns="0" rIns="0" bIns="0"/>
          <a:lstStyle/>
          <a:p>
            <a:pPr algn="ctr">
              <a:buNone/>
            </a:pPr>
            <a:r>
              <a:rPr lang="ko-KR" sz="850" dirty="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Answer</a:t>
            </a:r>
            <a:endParaRPr lang="ko-KR" sz="850"/>
          </a:p>
        </p:txBody>
      </p:sp>
      <p:sp>
        <p:nvSpPr>
          <p:cNvPr id="19" name="FR"/>
          <p:cNvSpPr txBox="1"/>
          <p:nvPr/>
        </p:nvSpPr>
        <p:spPr>
          <a:xfrm>
            <a:off x="4736592" y="4773168"/>
            <a:ext cx="6693408" cy="786384"/>
          </a:xfrm>
          <a:prstGeom prst="roundRect">
            <a:avLst/>
          </a:prstGeom>
          <a:solidFill>
            <a:srgbClr val="F5F5F7"/>
          </a:solidFill>
          <a:ln w="9525">
            <a:solidFill>
              <a:srgbClr val="E0E0E0"/>
            </a:solidFill>
          </a:ln>
        </p:spPr>
        <p:txBody>
          <a:bodyPr wrap="square" anchor="t" lIns="137160" tIns="137160" rIns="137160" bIns="137160"/>
          <a:lstStyle/>
          <a:p>
            <a:pPr algn="l">
              <a:buNone/>
            </a:pPr>
            <a:r>
              <a:rPr lang="ko-KR" sz="1150" dirty="0" b="1">
                <a:solidFill>
                  <a:srgbClr val="1D1D1F"/>
                </a:solidFill>
                <a:latin typeface="Aptos"/>
                <a:ea typeface="Aptos"/>
                <a:cs typeface="Aptos"/>
              </a:rPr>
              <a:t>Related FR / QA</a:t>
            </a:r>
            <a:endParaRPr lang="ko-KR" sz="1150"/>
          </a:p>
          <a:p>
            <a:pPr algn="l">
              <a:buNone/>
            </a:pPr>
            <a:r>
              <a:rPr lang="ko-KR" sz="880" dirty="0">
                <a:solidFill>
                  <a:srgbClr val="6E6E73"/>
                </a:solidFill>
                <a:latin typeface="Aptos"/>
                <a:ea typeface="Aptos"/>
                <a:cs typeface="Aptos"/>
              </a:rPr>
              <a:t>FR-5, FR-9, FR-10, FR-11, FR-13, FR-14, FR-16  ·  QA: Functional Suitability, Security, Performance Efficiency, Reliability, Maintainability 중 관련 항목 적용</a:t>
            </a:r>
            <a:endParaRPr lang="ko-KR" sz="880"/>
          </a:p>
        </p:txBody>
      </p:sp>
      <p:sp>
        <p:nvSpPr>
          <p:cNvPr id="20" name="Footer"/>
          <p:cNvSpPr txBox="1"/>
          <p:nvPr/>
        </p:nvSpPr>
        <p:spPr>
          <a:xfrm>
            <a:off x="658368" y="6473952"/>
            <a:ext cx="54864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buNone/>
            </a:pPr>
            <a:r>
              <a:rPr lang="ko-KR" sz="850" dirty="0">
                <a:solidFill>
                  <a:srgbClr val="6E6E73"/>
                </a:solidFill>
                <a:latin typeface="Aptos"/>
                <a:ea typeface="Aptos"/>
                <a:cs typeface="Aptos"/>
              </a:rPr>
              <a:t>SPRAG 기반 사내 메신저 AI Assistant Architecture</a:t>
            </a:r>
            <a:endParaRPr lang="ko-KR" sz="850"/>
          </a:p>
        </p:txBody>
      </p:sp>
      <p:sp>
        <p:nvSpPr>
          <p:cNvPr id="21" name="PageNo"/>
          <p:cNvSpPr txBox="1"/>
          <p:nvPr/>
        </p:nvSpPr>
        <p:spPr>
          <a:xfrm>
            <a:off x="10835640" y="6473952"/>
            <a:ext cx="713232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r">
              <a:buNone/>
            </a:pPr>
            <a:r>
              <a:rPr lang="ko-KR" sz="850" dirty="0">
                <a:solidFill>
                  <a:srgbClr val="6E6E73"/>
                </a:solidFill>
                <a:latin typeface="Aptos"/>
                <a:ea typeface="Aptos"/>
                <a:cs typeface="Aptos"/>
              </a:rPr>
              <a:t>09/12</a:t>
            </a:r>
            <a:endParaRPr lang="ko-KR" sz="85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72729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Chapter"/>
          <p:cNvSpPr txBox="1"/>
          <p:nvPr/>
        </p:nvSpPr>
        <p:spPr>
          <a:xfrm>
            <a:off x="658368" y="347472"/>
            <a:ext cx="310896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buNone/>
            </a:pPr>
            <a:r>
              <a:rPr lang="ko-KR" sz="1050" dirty="0" b="1">
                <a:solidFill>
                  <a:srgbClr val="2997FF"/>
                </a:solidFill>
                <a:latin typeface="Aptos"/>
                <a:ea typeface="Aptos"/>
                <a:cs typeface="Aptos"/>
              </a:rPr>
              <a:t>APPENDIX A.4</a:t>
            </a:r>
            <a:endParaRPr lang="ko-KR" sz="1050"/>
          </a:p>
        </p:txBody>
      </p:sp>
      <p:sp>
        <p:nvSpPr>
          <p:cNvPr id="5" name="Title"/>
          <p:cNvSpPr txBox="1"/>
          <p:nvPr/>
        </p:nvSpPr>
        <p:spPr>
          <a:xfrm>
            <a:off x="658368" y="658368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buNone/>
            </a:pPr>
            <a:r>
              <a:rPr lang="ko-KR" sz="2600" dirty="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세션 참조 제어</a:t>
            </a:r>
            <a:endParaRPr lang="ko-KR" sz="2600"/>
          </a:p>
        </p:txBody>
      </p:sp>
      <p:sp>
        <p:nvSpPr>
          <p:cNvPr id="6" name="Subtitle"/>
          <p:cNvSpPr txBox="1"/>
          <p:nvPr/>
        </p:nvSpPr>
        <p:spPr>
          <a:xfrm>
            <a:off x="658368" y="1133856"/>
            <a:ext cx="969264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buNone/>
            </a:pPr>
            <a:r>
              <a:rPr lang="ko-KR" sz="1250" dirty="0">
                <a:solidFill>
                  <a:srgbClr val="CCCCCC"/>
                </a:solidFill>
                <a:latin typeface="Aptos"/>
                <a:ea typeface="Aptos"/>
                <a:cs typeface="Aptos"/>
              </a:rPr>
              <a:t>대화방 또는 세션의 AI 참조 허용 여부를 변경하고 Retrieval 정책에 반영한다.</a:t>
            </a:r>
            <a:endParaRPr lang="ko-KR" sz="1250"/>
          </a:p>
        </p:txBody>
      </p:sp>
      <p:sp>
        <p:nvSpPr>
          <p:cNvPr id="7" name="Summary"/>
          <p:cNvSpPr txBox="1"/>
          <p:nvPr/>
        </p:nvSpPr>
        <p:spPr>
          <a:xfrm>
            <a:off x="658368" y="1664208"/>
            <a:ext cx="3886200" cy="1188720"/>
          </a:xfrm>
          <a:prstGeom prst="roundRect">
            <a:avLst/>
          </a:prstGeom>
          <a:solidFill>
            <a:srgbClr val="333336"/>
          </a:solidFill>
          <a:ln w="9525">
            <a:solidFill>
              <a:srgbClr val="56565A"/>
            </a:solidFill>
          </a:ln>
        </p:spPr>
        <p:txBody>
          <a:bodyPr wrap="square" anchor="t" lIns="137160" tIns="137160" rIns="137160" bIns="137160"/>
          <a:lstStyle/>
          <a:p>
            <a:pPr algn="l">
              <a:buNone/>
            </a:pPr>
            <a:r>
              <a:rPr lang="ko-KR" sz="1150" dirty="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Scenario</a:t>
            </a:r>
            <a:endParaRPr lang="ko-KR" sz="1150"/>
          </a:p>
          <a:p>
            <a:pPr algn="l">
              <a:buNone/>
            </a:pPr>
            <a:r>
              <a:rPr lang="ko-KR" sz="969" dirty="0">
                <a:solidFill>
                  <a:srgbClr val="CCCCCC"/>
                </a:solidFill>
                <a:latin typeface="Aptos"/>
                <a:ea typeface="Aptos"/>
                <a:cs typeface="Aptos"/>
              </a:rPr>
              <a:t>대화방 또는 세션의 AI 참조 허용 여부를 변경하고 Retrieval 정책에 반영한다.</a:t>
            </a:r>
            <a:endParaRPr lang="ko-KR" sz="969"/>
          </a:p>
        </p:txBody>
      </p:sp>
      <p:sp>
        <p:nvSpPr>
          <p:cNvPr id="8" name="Main Flow"/>
          <p:cNvSpPr txBox="1"/>
          <p:nvPr/>
        </p:nvSpPr>
        <p:spPr>
          <a:xfrm>
            <a:off x="4736592" y="1664208"/>
            <a:ext cx="6693408" cy="2121408"/>
          </a:xfrm>
          <a:prstGeom prst="roundRect">
            <a:avLst/>
          </a:prstGeom>
          <a:solidFill>
            <a:srgbClr val="333336"/>
          </a:solidFill>
          <a:ln w="9525">
            <a:solidFill>
              <a:srgbClr val="56565A"/>
            </a:solidFill>
          </a:ln>
        </p:spPr>
        <p:txBody>
          <a:bodyPr wrap="square" anchor="t" lIns="137160" tIns="137160" rIns="137160" bIns="137160"/>
          <a:lstStyle/>
          <a:p>
            <a:pPr algn="l">
              <a:buNone/>
            </a:pPr>
            <a:r>
              <a:rPr lang="ko-KR" sz="1150" dirty="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Main Flow</a:t>
            </a:r>
            <a:endParaRPr lang="ko-KR" sz="1150"/>
          </a:p>
          <a:p>
            <a:pPr algn="l">
              <a:buNone/>
            </a:pPr>
            <a:r>
              <a:rPr lang="ko-KR" sz="890" dirty="0">
                <a:solidFill>
                  <a:srgbClr val="CCCCCC"/>
                </a:solidFill>
                <a:latin typeface="Aptos"/>
                <a:ea typeface="Aptos"/>
                <a:cs typeface="Aptos"/>
              </a:rPr>
              <a:t>1. 사용자가 AI 참조 On/Off 변경</a:t>
            </a:r>
            <a:endParaRPr lang="ko-KR" sz="890"/>
          </a:p>
          <a:p>
            <a:pPr algn="l">
              <a:buNone/>
            </a:pPr>
            <a:r>
              <a:rPr lang="ko-KR" sz="890" dirty="0">
                <a:solidFill>
                  <a:srgbClr val="CCCCCC"/>
                </a:solidFill>
                <a:latin typeface="Aptos"/>
                <a:ea typeface="Aptos"/>
                <a:cs typeface="Aptos"/>
              </a:rPr>
              <a:t>2. 세션 정책 변경 이벤트 발행</a:t>
            </a:r>
            <a:endParaRPr lang="ko-KR" sz="890"/>
          </a:p>
          <a:p>
            <a:pPr algn="l">
              <a:buNone/>
            </a:pPr>
            <a:r>
              <a:rPr lang="ko-KR" sz="890" dirty="0">
                <a:solidFill>
                  <a:srgbClr val="CCCCCC"/>
                </a:solidFill>
                <a:latin typeface="Aptos"/>
                <a:ea typeface="Aptos"/>
                <a:cs typeface="Aptos"/>
              </a:rPr>
              <a:t>3. Metadata Sync Worker가 상태 갱신</a:t>
            </a:r>
            <a:endParaRPr lang="ko-KR" sz="890"/>
          </a:p>
          <a:p>
            <a:pPr algn="l">
              <a:buNone/>
            </a:pPr>
            <a:r>
              <a:rPr lang="ko-KR" sz="890" dirty="0">
                <a:solidFill>
                  <a:srgbClr val="CCCCCC"/>
                </a:solidFill>
                <a:latin typeface="Aptos"/>
                <a:ea typeface="Aptos"/>
                <a:cs typeface="Aptos"/>
              </a:rPr>
              <a:t>4. Retriever가 이후 질의부터 필터 적용</a:t>
            </a:r>
            <a:endParaRPr lang="ko-KR" sz="890"/>
          </a:p>
          <a:p>
            <a:pPr algn="l">
              <a:buNone/>
            </a:pPr>
            <a:r>
              <a:rPr lang="ko-KR" sz="890" dirty="0">
                <a:solidFill>
                  <a:srgbClr val="CCCCCC"/>
                </a:solidFill>
                <a:latin typeface="Aptos"/>
                <a:ea typeface="Aptos"/>
                <a:cs typeface="Aptos"/>
              </a:rPr>
              <a:t>5. 변경 이력과 적용 시각 감사 로그 기록</a:t>
            </a:r>
            <a:endParaRPr lang="ko-KR" sz="890"/>
          </a:p>
        </p:txBody>
      </p:sp>
      <p:sp>
        <p:nvSpPr>
          <p:cNvPr id="9" name="Exceptions"/>
          <p:cNvSpPr txBox="1"/>
          <p:nvPr/>
        </p:nvSpPr>
        <p:spPr>
          <a:xfrm>
            <a:off x="658368" y="3127248"/>
            <a:ext cx="3886200" cy="1600200"/>
          </a:xfrm>
          <a:prstGeom prst="roundRect">
            <a:avLst/>
          </a:prstGeom>
          <a:solidFill>
            <a:srgbClr val="3A3A3D"/>
          </a:solidFill>
          <a:ln w="9525">
            <a:solidFill>
              <a:srgbClr val="56565A"/>
            </a:solidFill>
          </a:ln>
        </p:spPr>
        <p:txBody>
          <a:bodyPr wrap="square" anchor="t" lIns="137160" tIns="137160" rIns="137160" bIns="137160"/>
          <a:lstStyle/>
          <a:p>
            <a:pPr algn="l">
              <a:buNone/>
            </a:pPr>
            <a:r>
              <a:rPr lang="ko-KR" sz="1150" dirty="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Exception / Variation</a:t>
            </a:r>
            <a:endParaRPr lang="ko-KR" sz="1150"/>
          </a:p>
          <a:p>
            <a:pPr algn="l" marL="342900" indent="-171450">
              <a:buChar char="•"/>
            </a:pPr>
            <a:r>
              <a:rPr lang="ko-KR" sz="880" dirty="0">
                <a:solidFill>
                  <a:srgbClr val="CCCCCC"/>
                </a:solidFill>
                <a:latin typeface="Aptos"/>
                <a:ea typeface="Aptos"/>
                <a:cs typeface="Aptos"/>
              </a:rPr>
              <a:t>메타데이터 갱신 실패</a:t>
            </a:r>
            <a:endParaRPr lang="ko-KR" sz="880"/>
          </a:p>
          <a:p>
            <a:pPr algn="l" marL="342900" indent="-171450">
              <a:buChar char="•"/>
            </a:pPr>
            <a:r>
              <a:rPr lang="ko-KR" sz="880" dirty="0">
                <a:solidFill>
                  <a:srgbClr val="CCCCCC"/>
                </a:solidFill>
                <a:latin typeface="Aptos"/>
                <a:ea typeface="Aptos"/>
                <a:cs typeface="Aptos"/>
              </a:rPr>
              <a:t>진행 중 요청과 정책 변경 경합</a:t>
            </a:r>
            <a:endParaRPr lang="ko-KR" sz="880"/>
          </a:p>
          <a:p>
            <a:pPr algn="l" marL="342900" indent="-171450">
              <a:buChar char="•"/>
            </a:pPr>
            <a:r>
              <a:rPr lang="ko-KR" sz="880" dirty="0">
                <a:solidFill>
                  <a:srgbClr val="CCCCCC"/>
                </a:solidFill>
                <a:latin typeface="Aptos"/>
                <a:ea typeface="Aptos"/>
                <a:cs typeface="Aptos"/>
              </a:rPr>
              <a:t>보존 기간 만료 이벤트</a:t>
            </a:r>
            <a:endParaRPr lang="ko-KR" sz="880"/>
          </a:p>
        </p:txBody>
      </p:sp>
      <p:sp>
        <p:nvSpPr>
          <p:cNvPr id="10" name="Actor"/>
          <p:cNvSpPr txBox="1"/>
          <p:nvPr/>
        </p:nvSpPr>
        <p:spPr>
          <a:xfrm>
            <a:off x="4773168" y="4187952"/>
            <a:ext cx="841248" cy="256032"/>
          </a:xfrm>
          <a:prstGeom prst="roundRect">
            <a:avLst/>
          </a:prstGeom>
          <a:solidFill>
            <a:srgbClr val="0066CC"/>
          </a:solidFill>
          <a:ln>
            <a:noFill/>
          </a:ln>
        </p:spPr>
        <p:txBody>
          <a:bodyPr wrap="square" anchor="ctr" lIns="0" tIns="0" rIns="0" bIns="0"/>
          <a:lstStyle/>
          <a:p>
            <a:pPr algn="ctr">
              <a:buNone/>
            </a:pPr>
            <a:r>
              <a:rPr lang="ko-KR" sz="850" dirty="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Actor</a:t>
            </a:r>
            <a:endParaRPr lang="ko-KR" sz="850"/>
          </a:p>
        </p:txBody>
      </p:sp>
      <p:sp>
        <p:nvSpPr>
          <p:cNvPr id="11" name="Arrow"/>
          <p:cNvSpPr txBox="1"/>
          <p:nvPr/>
        </p:nvSpPr>
        <p:spPr>
          <a:xfrm>
            <a:off x="5660136" y="4178808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buNone/>
            </a:pPr>
            <a:r>
              <a:rPr lang="ko-KR" sz="1100" dirty="0" b="1">
                <a:solidFill>
                  <a:srgbClr val="2997FF"/>
                </a:solidFill>
                <a:latin typeface="Aptos"/>
                <a:ea typeface="Aptos"/>
                <a:cs typeface="Aptos"/>
              </a:rPr>
              <a:t>→</a:t>
            </a:r>
            <a:endParaRPr lang="ko-KR" sz="1100"/>
          </a:p>
        </p:txBody>
      </p:sp>
      <p:sp>
        <p:nvSpPr>
          <p:cNvPr id="12" name="Policy"/>
          <p:cNvSpPr txBox="1"/>
          <p:nvPr/>
        </p:nvSpPr>
        <p:spPr>
          <a:xfrm>
            <a:off x="6007608" y="4187952"/>
            <a:ext cx="841248" cy="256032"/>
          </a:xfrm>
          <a:prstGeom prst="roundRect">
            <a:avLst/>
          </a:prstGeom>
          <a:solidFill>
            <a:srgbClr val="0066CC"/>
          </a:solidFill>
          <a:ln>
            <a:noFill/>
          </a:ln>
        </p:spPr>
        <p:txBody>
          <a:bodyPr wrap="square" anchor="ctr" lIns="0" tIns="0" rIns="0" bIns="0"/>
          <a:lstStyle/>
          <a:p>
            <a:pPr algn="ctr">
              <a:buNone/>
            </a:pPr>
            <a:r>
              <a:rPr lang="ko-KR" sz="850" dirty="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Policy</a:t>
            </a:r>
            <a:endParaRPr lang="ko-KR" sz="850"/>
          </a:p>
        </p:txBody>
      </p:sp>
      <p:sp>
        <p:nvSpPr>
          <p:cNvPr id="13" name="Arrow"/>
          <p:cNvSpPr txBox="1"/>
          <p:nvPr/>
        </p:nvSpPr>
        <p:spPr>
          <a:xfrm>
            <a:off x="6894576" y="4178808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buNone/>
            </a:pPr>
            <a:r>
              <a:rPr lang="ko-KR" sz="1100" dirty="0" b="1">
                <a:solidFill>
                  <a:srgbClr val="2997FF"/>
                </a:solidFill>
                <a:latin typeface="Aptos"/>
                <a:ea typeface="Aptos"/>
                <a:cs typeface="Aptos"/>
              </a:rPr>
              <a:t>→</a:t>
            </a:r>
            <a:endParaRPr lang="ko-KR" sz="1100"/>
          </a:p>
        </p:txBody>
      </p:sp>
      <p:sp>
        <p:nvSpPr>
          <p:cNvPr id="14" name="Retrieve"/>
          <p:cNvSpPr txBox="1"/>
          <p:nvPr/>
        </p:nvSpPr>
        <p:spPr>
          <a:xfrm>
            <a:off x="7242048" y="4187952"/>
            <a:ext cx="841248" cy="256032"/>
          </a:xfrm>
          <a:prstGeom prst="roundRect">
            <a:avLst/>
          </a:prstGeom>
          <a:solidFill>
            <a:srgbClr val="0066CC"/>
          </a:solidFill>
          <a:ln>
            <a:noFill/>
          </a:ln>
        </p:spPr>
        <p:txBody>
          <a:bodyPr wrap="square" anchor="ctr" lIns="0" tIns="0" rIns="0" bIns="0"/>
          <a:lstStyle/>
          <a:p>
            <a:pPr algn="ctr">
              <a:buNone/>
            </a:pPr>
            <a:r>
              <a:rPr lang="ko-KR" sz="850" dirty="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Retrieve</a:t>
            </a:r>
            <a:endParaRPr lang="ko-KR" sz="850"/>
          </a:p>
        </p:txBody>
      </p:sp>
      <p:sp>
        <p:nvSpPr>
          <p:cNvPr id="15" name="Arrow"/>
          <p:cNvSpPr txBox="1"/>
          <p:nvPr/>
        </p:nvSpPr>
        <p:spPr>
          <a:xfrm>
            <a:off x="8129016" y="4178808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buNone/>
            </a:pPr>
            <a:r>
              <a:rPr lang="ko-KR" sz="1100" dirty="0" b="1">
                <a:solidFill>
                  <a:srgbClr val="2997FF"/>
                </a:solidFill>
                <a:latin typeface="Aptos"/>
                <a:ea typeface="Aptos"/>
                <a:cs typeface="Aptos"/>
              </a:rPr>
              <a:t>→</a:t>
            </a:r>
            <a:endParaRPr lang="ko-KR" sz="1100"/>
          </a:p>
        </p:txBody>
      </p:sp>
      <p:sp>
        <p:nvSpPr>
          <p:cNvPr id="16" name="Rerank"/>
          <p:cNvSpPr txBox="1"/>
          <p:nvPr/>
        </p:nvSpPr>
        <p:spPr>
          <a:xfrm>
            <a:off x="8476488" y="4187952"/>
            <a:ext cx="841248" cy="256032"/>
          </a:xfrm>
          <a:prstGeom prst="roundRect">
            <a:avLst/>
          </a:prstGeom>
          <a:solidFill>
            <a:srgbClr val="0066CC"/>
          </a:solidFill>
          <a:ln>
            <a:noFill/>
          </a:ln>
        </p:spPr>
        <p:txBody>
          <a:bodyPr wrap="square" anchor="ctr" lIns="0" tIns="0" rIns="0" bIns="0"/>
          <a:lstStyle/>
          <a:p>
            <a:pPr algn="ctr">
              <a:buNone/>
            </a:pPr>
            <a:r>
              <a:rPr lang="ko-KR" sz="850" dirty="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Rerank</a:t>
            </a:r>
            <a:endParaRPr lang="ko-KR" sz="850"/>
          </a:p>
        </p:txBody>
      </p:sp>
      <p:sp>
        <p:nvSpPr>
          <p:cNvPr id="17" name="Arrow"/>
          <p:cNvSpPr txBox="1"/>
          <p:nvPr/>
        </p:nvSpPr>
        <p:spPr>
          <a:xfrm>
            <a:off x="9363456" y="4178808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buNone/>
            </a:pPr>
            <a:r>
              <a:rPr lang="ko-KR" sz="1100" dirty="0" b="1">
                <a:solidFill>
                  <a:srgbClr val="2997FF"/>
                </a:solidFill>
                <a:latin typeface="Aptos"/>
                <a:ea typeface="Aptos"/>
                <a:cs typeface="Aptos"/>
              </a:rPr>
              <a:t>→</a:t>
            </a:r>
            <a:endParaRPr lang="ko-KR" sz="1100"/>
          </a:p>
        </p:txBody>
      </p:sp>
      <p:sp>
        <p:nvSpPr>
          <p:cNvPr id="18" name="Answer"/>
          <p:cNvSpPr txBox="1"/>
          <p:nvPr/>
        </p:nvSpPr>
        <p:spPr>
          <a:xfrm>
            <a:off x="9710928" y="4187952"/>
            <a:ext cx="841248" cy="256032"/>
          </a:xfrm>
          <a:prstGeom prst="roundRect">
            <a:avLst/>
          </a:prstGeom>
          <a:solidFill>
            <a:srgbClr val="0066CC"/>
          </a:solidFill>
          <a:ln>
            <a:noFill/>
          </a:ln>
        </p:spPr>
        <p:txBody>
          <a:bodyPr wrap="square" anchor="ctr" lIns="0" tIns="0" rIns="0" bIns="0"/>
          <a:lstStyle/>
          <a:p>
            <a:pPr algn="ctr">
              <a:buNone/>
            </a:pPr>
            <a:r>
              <a:rPr lang="ko-KR" sz="850" dirty="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Answer</a:t>
            </a:r>
            <a:endParaRPr lang="ko-KR" sz="850"/>
          </a:p>
        </p:txBody>
      </p:sp>
      <p:sp>
        <p:nvSpPr>
          <p:cNvPr id="19" name="FR"/>
          <p:cNvSpPr txBox="1"/>
          <p:nvPr/>
        </p:nvSpPr>
        <p:spPr>
          <a:xfrm>
            <a:off x="4736592" y="4773168"/>
            <a:ext cx="6693408" cy="786384"/>
          </a:xfrm>
          <a:prstGeom prst="roundRect">
            <a:avLst/>
          </a:prstGeom>
          <a:solidFill>
            <a:srgbClr val="3A3A3D"/>
          </a:solidFill>
          <a:ln w="9525">
            <a:solidFill>
              <a:srgbClr val="56565A"/>
            </a:solidFill>
          </a:ln>
        </p:spPr>
        <p:txBody>
          <a:bodyPr wrap="square" anchor="t" lIns="137160" tIns="137160" rIns="137160" bIns="137160"/>
          <a:lstStyle/>
          <a:p>
            <a:pPr algn="l">
              <a:buNone/>
            </a:pPr>
            <a:r>
              <a:rPr lang="ko-KR" sz="1150" dirty="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Related FR / QA</a:t>
            </a:r>
            <a:endParaRPr lang="ko-KR" sz="1150"/>
          </a:p>
          <a:p>
            <a:pPr algn="l">
              <a:buNone/>
            </a:pPr>
            <a:r>
              <a:rPr lang="ko-KR" sz="880" dirty="0">
                <a:solidFill>
                  <a:srgbClr val="CCCCCC"/>
                </a:solidFill>
                <a:latin typeface="Aptos"/>
                <a:ea typeface="Aptos"/>
                <a:cs typeface="Aptos"/>
              </a:rPr>
              <a:t>FR-6, FR-9, FR-10, FR-11, FR-16  ·  QA: Functional Suitability, Security, Performance Efficiency, Reliability, Maintainability 중 관련 항목 적용</a:t>
            </a:r>
            <a:endParaRPr lang="ko-KR" sz="880"/>
          </a:p>
        </p:txBody>
      </p:sp>
      <p:sp>
        <p:nvSpPr>
          <p:cNvPr id="20" name="Footer"/>
          <p:cNvSpPr txBox="1"/>
          <p:nvPr/>
        </p:nvSpPr>
        <p:spPr>
          <a:xfrm>
            <a:off x="658368" y="6473952"/>
            <a:ext cx="54864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buNone/>
            </a:pPr>
            <a:r>
              <a:rPr lang="ko-KR" sz="850" dirty="0">
                <a:solidFill>
                  <a:srgbClr val="CCCCCC"/>
                </a:solidFill>
                <a:latin typeface="Aptos"/>
                <a:ea typeface="Aptos"/>
                <a:cs typeface="Aptos"/>
              </a:rPr>
              <a:t>SPRAG 기반 사내 메신저 AI Assistant Architecture</a:t>
            </a:r>
            <a:endParaRPr lang="ko-KR" sz="850"/>
          </a:p>
        </p:txBody>
      </p:sp>
      <p:sp>
        <p:nvSpPr>
          <p:cNvPr id="21" name="PageNo"/>
          <p:cNvSpPr txBox="1"/>
          <p:nvPr/>
        </p:nvSpPr>
        <p:spPr>
          <a:xfrm>
            <a:off x="10835640" y="6473952"/>
            <a:ext cx="713232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r">
              <a:buNone/>
            </a:pPr>
            <a:r>
              <a:rPr lang="ko-KR" sz="850" dirty="0">
                <a:solidFill>
                  <a:srgbClr val="CCCCCC"/>
                </a:solidFill>
                <a:latin typeface="Aptos"/>
                <a:ea typeface="Aptos"/>
                <a:cs typeface="Aptos"/>
              </a:rPr>
              <a:t>10/12</a:t>
            </a:r>
            <a:endParaRPr lang="ko-KR" sz="85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Chapter"/>
          <p:cNvSpPr txBox="1"/>
          <p:nvPr/>
        </p:nvSpPr>
        <p:spPr>
          <a:xfrm>
            <a:off x="658368" y="347472"/>
            <a:ext cx="310896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buNone/>
            </a:pPr>
            <a:r>
              <a:rPr lang="ko-KR" sz="1050" dirty="0" b="1">
                <a:solidFill>
                  <a:srgbClr val="0066CC"/>
                </a:solidFill>
                <a:latin typeface="Aptos"/>
                <a:ea typeface="Aptos"/>
                <a:cs typeface="Aptos"/>
              </a:rPr>
              <a:t>APPENDIX A.5</a:t>
            </a:r>
            <a:endParaRPr lang="ko-KR" sz="1050"/>
          </a:p>
        </p:txBody>
      </p:sp>
      <p:sp>
        <p:nvSpPr>
          <p:cNvPr id="5" name="Title"/>
          <p:cNvSpPr txBox="1"/>
          <p:nvPr/>
        </p:nvSpPr>
        <p:spPr>
          <a:xfrm>
            <a:off x="658368" y="658368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buNone/>
            </a:pPr>
            <a:r>
              <a:rPr lang="ko-KR" sz="2600" dirty="0" b="1">
                <a:solidFill>
                  <a:srgbClr val="1D1D1F"/>
                </a:solidFill>
                <a:latin typeface="Aptos"/>
                <a:ea typeface="Aptos"/>
                <a:cs typeface="Aptos"/>
              </a:rPr>
              <a:t>정보 충돌 판별</a:t>
            </a:r>
            <a:endParaRPr lang="ko-KR" sz="2600"/>
          </a:p>
        </p:txBody>
      </p:sp>
      <p:sp>
        <p:nvSpPr>
          <p:cNvPr id="6" name="Subtitle"/>
          <p:cNvSpPr txBox="1"/>
          <p:nvPr/>
        </p:nvSpPr>
        <p:spPr>
          <a:xfrm>
            <a:off x="658368" y="1133856"/>
            <a:ext cx="969264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buNone/>
            </a:pPr>
            <a:r>
              <a:rPr lang="ko-KR" sz="1250" dirty="0">
                <a:solidFill>
                  <a:srgbClr val="6E6E73"/>
                </a:solidFill>
                <a:latin typeface="Aptos"/>
                <a:ea typeface="Aptos"/>
                <a:cs typeface="Aptos"/>
              </a:rPr>
              <a:t>공식 문서, Jira, 메신저 대화의 근거가 상충할 때 판단 기준과 출처 차이를 명시한다.</a:t>
            </a:r>
            <a:endParaRPr lang="ko-KR" sz="1250"/>
          </a:p>
        </p:txBody>
      </p:sp>
      <p:sp>
        <p:nvSpPr>
          <p:cNvPr id="7" name="Summary"/>
          <p:cNvSpPr txBox="1"/>
          <p:nvPr/>
        </p:nvSpPr>
        <p:spPr>
          <a:xfrm>
            <a:off x="658368" y="1664208"/>
            <a:ext cx="3886200" cy="1188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txBody>
          <a:bodyPr wrap="square" anchor="t" lIns="137160" tIns="137160" rIns="137160" bIns="137160"/>
          <a:lstStyle/>
          <a:p>
            <a:pPr algn="l">
              <a:buNone/>
            </a:pPr>
            <a:r>
              <a:rPr lang="ko-KR" sz="1150" dirty="0" b="1">
                <a:solidFill>
                  <a:srgbClr val="1D1D1F"/>
                </a:solidFill>
                <a:latin typeface="Aptos"/>
                <a:ea typeface="Aptos"/>
                <a:cs typeface="Aptos"/>
              </a:rPr>
              <a:t>Scenario</a:t>
            </a:r>
            <a:endParaRPr lang="ko-KR" sz="1150"/>
          </a:p>
          <a:p>
            <a:pPr algn="l">
              <a:buNone/>
            </a:pPr>
            <a:r>
              <a:rPr lang="ko-KR" sz="969" dirty="0">
                <a:solidFill>
                  <a:srgbClr val="6E6E73"/>
                </a:solidFill>
                <a:latin typeface="Aptos"/>
                <a:ea typeface="Aptos"/>
                <a:cs typeface="Aptos"/>
              </a:rPr>
              <a:t>공식 문서, Jira, 메신저 대화의 근거가 상충할 때 판단 기준과 출처 차이를 명시한다.</a:t>
            </a:r>
            <a:endParaRPr lang="ko-KR" sz="969"/>
          </a:p>
        </p:txBody>
      </p:sp>
      <p:sp>
        <p:nvSpPr>
          <p:cNvPr id="8" name="Main Flow"/>
          <p:cNvSpPr txBox="1"/>
          <p:nvPr/>
        </p:nvSpPr>
        <p:spPr>
          <a:xfrm>
            <a:off x="4736592" y="1664208"/>
            <a:ext cx="6693408" cy="212140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txBody>
          <a:bodyPr wrap="square" anchor="t" lIns="137160" tIns="137160" rIns="137160" bIns="137160"/>
          <a:lstStyle/>
          <a:p>
            <a:pPr algn="l">
              <a:buNone/>
            </a:pPr>
            <a:r>
              <a:rPr lang="ko-KR" sz="1150" dirty="0" b="1">
                <a:solidFill>
                  <a:srgbClr val="1D1D1F"/>
                </a:solidFill>
                <a:latin typeface="Aptos"/>
                <a:ea typeface="Aptos"/>
                <a:cs typeface="Aptos"/>
              </a:rPr>
              <a:t>Main Flow</a:t>
            </a:r>
            <a:endParaRPr lang="ko-KR" sz="1150"/>
          </a:p>
          <a:p>
            <a:pPr algn="l">
              <a:buNone/>
            </a:pPr>
            <a:r>
              <a:rPr lang="ko-KR" sz="890" dirty="0">
                <a:solidFill>
                  <a:srgbClr val="6E6E73"/>
                </a:solidFill>
                <a:latin typeface="Aptos"/>
                <a:ea typeface="Aptos"/>
                <a:cs typeface="Aptos"/>
              </a:rPr>
              <a:t>1. 후보 근거의 동일 주제 주장 비교</a:t>
            </a:r>
            <a:endParaRPr lang="ko-KR" sz="890"/>
          </a:p>
          <a:p>
            <a:pPr algn="l">
              <a:buNone/>
            </a:pPr>
            <a:r>
              <a:rPr lang="ko-KR" sz="890" dirty="0">
                <a:solidFill>
                  <a:srgbClr val="6E6E73"/>
                </a:solidFill>
                <a:latin typeface="Aptos"/>
                <a:ea typeface="Aptos"/>
                <a:cs typeface="Aptos"/>
              </a:rPr>
              <a:t>2. 출처 유형과 문서 상태 식별</a:t>
            </a:r>
            <a:endParaRPr lang="ko-KR" sz="890"/>
          </a:p>
          <a:p>
            <a:pPr algn="l">
              <a:buNone/>
            </a:pPr>
            <a:r>
              <a:rPr lang="ko-KR" sz="890" dirty="0">
                <a:solidFill>
                  <a:srgbClr val="6E6E73"/>
                </a:solidFill>
                <a:latin typeface="Aptos"/>
                <a:ea typeface="Aptos"/>
                <a:cs typeface="Aptos"/>
              </a:rPr>
              <a:t>3. 최신성·권한·Authority Score 평가</a:t>
            </a:r>
            <a:endParaRPr lang="ko-KR" sz="890"/>
          </a:p>
          <a:p>
            <a:pPr algn="l">
              <a:buNone/>
            </a:pPr>
            <a:r>
              <a:rPr lang="ko-KR" sz="890" dirty="0">
                <a:solidFill>
                  <a:srgbClr val="6E6E73"/>
                </a:solidFill>
                <a:latin typeface="Aptos"/>
                <a:ea typeface="Aptos"/>
                <a:cs typeface="Aptos"/>
              </a:rPr>
              <a:t>4. 우선 근거 선택</a:t>
            </a:r>
            <a:endParaRPr lang="ko-KR" sz="890"/>
          </a:p>
          <a:p>
            <a:pPr algn="l">
              <a:buNone/>
            </a:pPr>
            <a:r>
              <a:rPr lang="ko-KR" sz="890" dirty="0">
                <a:solidFill>
                  <a:srgbClr val="6E6E73"/>
                </a:solidFill>
                <a:latin typeface="Aptos"/>
                <a:ea typeface="Aptos"/>
                <a:cs typeface="Aptos"/>
              </a:rPr>
              <a:t>5. 상충 근거와 판단 기준을 답변에 명시</a:t>
            </a:r>
            <a:endParaRPr lang="ko-KR" sz="890"/>
          </a:p>
        </p:txBody>
      </p:sp>
      <p:sp>
        <p:nvSpPr>
          <p:cNvPr id="9" name="Exceptions"/>
          <p:cNvSpPr txBox="1"/>
          <p:nvPr/>
        </p:nvSpPr>
        <p:spPr>
          <a:xfrm>
            <a:off x="658368" y="3127248"/>
            <a:ext cx="3886200" cy="1600200"/>
          </a:xfrm>
          <a:prstGeom prst="roundRect">
            <a:avLst/>
          </a:prstGeom>
          <a:solidFill>
            <a:srgbClr val="F5F5F7"/>
          </a:solidFill>
          <a:ln w="9525">
            <a:solidFill>
              <a:srgbClr val="E0E0E0"/>
            </a:solidFill>
          </a:ln>
        </p:spPr>
        <p:txBody>
          <a:bodyPr wrap="square" anchor="t" lIns="137160" tIns="137160" rIns="137160" bIns="137160"/>
          <a:lstStyle/>
          <a:p>
            <a:pPr algn="l">
              <a:buNone/>
            </a:pPr>
            <a:r>
              <a:rPr lang="ko-KR" sz="1150" dirty="0" b="1">
                <a:solidFill>
                  <a:srgbClr val="1D1D1F"/>
                </a:solidFill>
                <a:latin typeface="Aptos"/>
                <a:ea typeface="Aptos"/>
                <a:cs typeface="Aptos"/>
              </a:rPr>
              <a:t>Exception / Variation</a:t>
            </a:r>
            <a:endParaRPr lang="ko-KR" sz="1150"/>
          </a:p>
          <a:p>
            <a:pPr algn="l" marL="342900" indent="-171450">
              <a:buChar char="•"/>
            </a:pPr>
            <a:r>
              <a:rPr lang="ko-KR" sz="880" dirty="0">
                <a:solidFill>
                  <a:srgbClr val="6E6E73"/>
                </a:solidFill>
                <a:latin typeface="Aptos"/>
                <a:ea typeface="Aptos"/>
                <a:cs typeface="Aptos"/>
              </a:rPr>
              <a:t>구 규정 vs 최신 규정</a:t>
            </a:r>
            <a:endParaRPr lang="ko-KR" sz="880"/>
          </a:p>
          <a:p>
            <a:pPr algn="l" marL="342900" indent="-171450">
              <a:buChar char="•"/>
            </a:pPr>
            <a:r>
              <a:rPr lang="ko-KR" sz="880" dirty="0">
                <a:solidFill>
                  <a:srgbClr val="6E6E73"/>
                </a:solidFill>
                <a:latin typeface="Aptos"/>
                <a:ea typeface="Aptos"/>
                <a:cs typeface="Aptos"/>
              </a:rPr>
              <a:t>임시 장애 원인 vs 사후 분석</a:t>
            </a:r>
            <a:endParaRPr lang="ko-KR" sz="880"/>
          </a:p>
          <a:p>
            <a:pPr algn="l" marL="342900" indent="-171450">
              <a:buChar char="•"/>
            </a:pPr>
            <a:r>
              <a:rPr lang="ko-KR" sz="880" dirty="0">
                <a:solidFill>
                  <a:srgbClr val="6E6E73"/>
                </a:solidFill>
                <a:latin typeface="Aptos"/>
                <a:ea typeface="Aptos"/>
                <a:cs typeface="Aptos"/>
              </a:rPr>
              <a:t>초기 설계 문서 vs 최신 ADR</a:t>
            </a:r>
            <a:endParaRPr lang="ko-KR" sz="880"/>
          </a:p>
        </p:txBody>
      </p:sp>
      <p:sp>
        <p:nvSpPr>
          <p:cNvPr id="10" name="Actor"/>
          <p:cNvSpPr txBox="1"/>
          <p:nvPr/>
        </p:nvSpPr>
        <p:spPr>
          <a:xfrm>
            <a:off x="4773168" y="4187952"/>
            <a:ext cx="841248" cy="256032"/>
          </a:xfrm>
          <a:prstGeom prst="roundRect">
            <a:avLst/>
          </a:prstGeom>
          <a:solidFill>
            <a:srgbClr val="0066CC"/>
          </a:solidFill>
          <a:ln>
            <a:noFill/>
          </a:ln>
        </p:spPr>
        <p:txBody>
          <a:bodyPr wrap="square" anchor="ctr" lIns="0" tIns="0" rIns="0" bIns="0"/>
          <a:lstStyle/>
          <a:p>
            <a:pPr algn="ctr">
              <a:buNone/>
            </a:pPr>
            <a:r>
              <a:rPr lang="ko-KR" sz="850" dirty="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Actor</a:t>
            </a:r>
            <a:endParaRPr lang="ko-KR" sz="850"/>
          </a:p>
        </p:txBody>
      </p:sp>
      <p:sp>
        <p:nvSpPr>
          <p:cNvPr id="11" name="Arrow"/>
          <p:cNvSpPr txBox="1"/>
          <p:nvPr/>
        </p:nvSpPr>
        <p:spPr>
          <a:xfrm>
            <a:off x="5660136" y="4178808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buNone/>
            </a:pPr>
            <a:r>
              <a:rPr lang="ko-KR" sz="1100" dirty="0" b="1">
                <a:solidFill>
                  <a:srgbClr val="0066CC"/>
                </a:solidFill>
                <a:latin typeface="Aptos"/>
                <a:ea typeface="Aptos"/>
                <a:cs typeface="Aptos"/>
              </a:rPr>
              <a:t>→</a:t>
            </a:r>
            <a:endParaRPr lang="ko-KR" sz="1100"/>
          </a:p>
        </p:txBody>
      </p:sp>
      <p:sp>
        <p:nvSpPr>
          <p:cNvPr id="12" name="Policy"/>
          <p:cNvSpPr txBox="1"/>
          <p:nvPr/>
        </p:nvSpPr>
        <p:spPr>
          <a:xfrm>
            <a:off x="6007608" y="4187952"/>
            <a:ext cx="841248" cy="256032"/>
          </a:xfrm>
          <a:prstGeom prst="roundRect">
            <a:avLst/>
          </a:prstGeom>
          <a:solidFill>
            <a:srgbClr val="0066CC"/>
          </a:solidFill>
          <a:ln>
            <a:noFill/>
          </a:ln>
        </p:spPr>
        <p:txBody>
          <a:bodyPr wrap="square" anchor="ctr" lIns="0" tIns="0" rIns="0" bIns="0"/>
          <a:lstStyle/>
          <a:p>
            <a:pPr algn="ctr">
              <a:buNone/>
            </a:pPr>
            <a:r>
              <a:rPr lang="ko-KR" sz="850" dirty="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Policy</a:t>
            </a:r>
            <a:endParaRPr lang="ko-KR" sz="850"/>
          </a:p>
        </p:txBody>
      </p:sp>
      <p:sp>
        <p:nvSpPr>
          <p:cNvPr id="13" name="Arrow"/>
          <p:cNvSpPr txBox="1"/>
          <p:nvPr/>
        </p:nvSpPr>
        <p:spPr>
          <a:xfrm>
            <a:off x="6894576" y="4178808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buNone/>
            </a:pPr>
            <a:r>
              <a:rPr lang="ko-KR" sz="1100" dirty="0" b="1">
                <a:solidFill>
                  <a:srgbClr val="0066CC"/>
                </a:solidFill>
                <a:latin typeface="Aptos"/>
                <a:ea typeface="Aptos"/>
                <a:cs typeface="Aptos"/>
              </a:rPr>
              <a:t>→</a:t>
            </a:r>
            <a:endParaRPr lang="ko-KR" sz="1100"/>
          </a:p>
        </p:txBody>
      </p:sp>
      <p:sp>
        <p:nvSpPr>
          <p:cNvPr id="14" name="Retrieve"/>
          <p:cNvSpPr txBox="1"/>
          <p:nvPr/>
        </p:nvSpPr>
        <p:spPr>
          <a:xfrm>
            <a:off x="7242048" y="4187952"/>
            <a:ext cx="841248" cy="256032"/>
          </a:xfrm>
          <a:prstGeom prst="roundRect">
            <a:avLst/>
          </a:prstGeom>
          <a:solidFill>
            <a:srgbClr val="0066CC"/>
          </a:solidFill>
          <a:ln>
            <a:noFill/>
          </a:ln>
        </p:spPr>
        <p:txBody>
          <a:bodyPr wrap="square" anchor="ctr" lIns="0" tIns="0" rIns="0" bIns="0"/>
          <a:lstStyle/>
          <a:p>
            <a:pPr algn="ctr">
              <a:buNone/>
            </a:pPr>
            <a:r>
              <a:rPr lang="ko-KR" sz="850" dirty="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Retrieve</a:t>
            </a:r>
            <a:endParaRPr lang="ko-KR" sz="850"/>
          </a:p>
        </p:txBody>
      </p:sp>
      <p:sp>
        <p:nvSpPr>
          <p:cNvPr id="15" name="Arrow"/>
          <p:cNvSpPr txBox="1"/>
          <p:nvPr/>
        </p:nvSpPr>
        <p:spPr>
          <a:xfrm>
            <a:off x="8129016" y="4178808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buNone/>
            </a:pPr>
            <a:r>
              <a:rPr lang="ko-KR" sz="1100" dirty="0" b="1">
                <a:solidFill>
                  <a:srgbClr val="0066CC"/>
                </a:solidFill>
                <a:latin typeface="Aptos"/>
                <a:ea typeface="Aptos"/>
                <a:cs typeface="Aptos"/>
              </a:rPr>
              <a:t>→</a:t>
            </a:r>
            <a:endParaRPr lang="ko-KR" sz="1100"/>
          </a:p>
        </p:txBody>
      </p:sp>
      <p:sp>
        <p:nvSpPr>
          <p:cNvPr id="16" name="Rerank"/>
          <p:cNvSpPr txBox="1"/>
          <p:nvPr/>
        </p:nvSpPr>
        <p:spPr>
          <a:xfrm>
            <a:off x="8476488" y="4187952"/>
            <a:ext cx="841248" cy="256032"/>
          </a:xfrm>
          <a:prstGeom prst="roundRect">
            <a:avLst/>
          </a:prstGeom>
          <a:solidFill>
            <a:srgbClr val="0066CC"/>
          </a:solidFill>
          <a:ln>
            <a:noFill/>
          </a:ln>
        </p:spPr>
        <p:txBody>
          <a:bodyPr wrap="square" anchor="ctr" lIns="0" tIns="0" rIns="0" bIns="0"/>
          <a:lstStyle/>
          <a:p>
            <a:pPr algn="ctr">
              <a:buNone/>
            </a:pPr>
            <a:r>
              <a:rPr lang="ko-KR" sz="850" dirty="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Rerank</a:t>
            </a:r>
            <a:endParaRPr lang="ko-KR" sz="850"/>
          </a:p>
        </p:txBody>
      </p:sp>
      <p:sp>
        <p:nvSpPr>
          <p:cNvPr id="17" name="Arrow"/>
          <p:cNvSpPr txBox="1"/>
          <p:nvPr/>
        </p:nvSpPr>
        <p:spPr>
          <a:xfrm>
            <a:off x="9363456" y="4178808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buNone/>
            </a:pPr>
            <a:r>
              <a:rPr lang="ko-KR" sz="1100" dirty="0" b="1">
                <a:solidFill>
                  <a:srgbClr val="0066CC"/>
                </a:solidFill>
                <a:latin typeface="Aptos"/>
                <a:ea typeface="Aptos"/>
                <a:cs typeface="Aptos"/>
              </a:rPr>
              <a:t>→</a:t>
            </a:r>
            <a:endParaRPr lang="ko-KR" sz="1100"/>
          </a:p>
        </p:txBody>
      </p:sp>
      <p:sp>
        <p:nvSpPr>
          <p:cNvPr id="18" name="Answer"/>
          <p:cNvSpPr txBox="1"/>
          <p:nvPr/>
        </p:nvSpPr>
        <p:spPr>
          <a:xfrm>
            <a:off x="9710928" y="4187952"/>
            <a:ext cx="841248" cy="256032"/>
          </a:xfrm>
          <a:prstGeom prst="roundRect">
            <a:avLst/>
          </a:prstGeom>
          <a:solidFill>
            <a:srgbClr val="0066CC"/>
          </a:solidFill>
          <a:ln>
            <a:noFill/>
          </a:ln>
        </p:spPr>
        <p:txBody>
          <a:bodyPr wrap="square" anchor="ctr" lIns="0" tIns="0" rIns="0" bIns="0"/>
          <a:lstStyle/>
          <a:p>
            <a:pPr algn="ctr">
              <a:buNone/>
            </a:pPr>
            <a:r>
              <a:rPr lang="ko-KR" sz="850" dirty="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Answer</a:t>
            </a:r>
            <a:endParaRPr lang="ko-KR" sz="850"/>
          </a:p>
        </p:txBody>
      </p:sp>
      <p:sp>
        <p:nvSpPr>
          <p:cNvPr id="19" name="FR"/>
          <p:cNvSpPr txBox="1"/>
          <p:nvPr/>
        </p:nvSpPr>
        <p:spPr>
          <a:xfrm>
            <a:off x="4736592" y="4773168"/>
            <a:ext cx="6693408" cy="786384"/>
          </a:xfrm>
          <a:prstGeom prst="roundRect">
            <a:avLst/>
          </a:prstGeom>
          <a:solidFill>
            <a:srgbClr val="F5F5F7"/>
          </a:solidFill>
          <a:ln w="9525">
            <a:solidFill>
              <a:srgbClr val="E0E0E0"/>
            </a:solidFill>
          </a:ln>
        </p:spPr>
        <p:txBody>
          <a:bodyPr wrap="square" anchor="t" lIns="137160" tIns="137160" rIns="137160" bIns="137160"/>
          <a:lstStyle/>
          <a:p>
            <a:pPr algn="l">
              <a:buNone/>
            </a:pPr>
            <a:r>
              <a:rPr lang="ko-KR" sz="1150" dirty="0" b="1">
                <a:solidFill>
                  <a:srgbClr val="1D1D1F"/>
                </a:solidFill>
                <a:latin typeface="Aptos"/>
                <a:ea typeface="Aptos"/>
                <a:cs typeface="Aptos"/>
              </a:rPr>
              <a:t>Related FR / QA</a:t>
            </a:r>
            <a:endParaRPr lang="ko-KR" sz="1150"/>
          </a:p>
          <a:p>
            <a:pPr algn="l">
              <a:buNone/>
            </a:pPr>
            <a:r>
              <a:rPr lang="ko-KR" sz="880" dirty="0">
                <a:solidFill>
                  <a:srgbClr val="6E6E73"/>
                </a:solidFill>
                <a:latin typeface="Aptos"/>
                <a:ea typeface="Aptos"/>
                <a:cs typeface="Aptos"/>
              </a:rPr>
              <a:t>FR-5, FR-12, FR-14, FR-15, FR-16  ·  QA: Functional Suitability, Security, Performance Efficiency, Reliability, Maintainability 중 관련 항목 적용</a:t>
            </a:r>
            <a:endParaRPr lang="ko-KR" sz="880"/>
          </a:p>
        </p:txBody>
      </p:sp>
      <p:sp>
        <p:nvSpPr>
          <p:cNvPr id="20" name="Footer"/>
          <p:cNvSpPr txBox="1"/>
          <p:nvPr/>
        </p:nvSpPr>
        <p:spPr>
          <a:xfrm>
            <a:off x="658368" y="6473952"/>
            <a:ext cx="54864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buNone/>
            </a:pPr>
            <a:r>
              <a:rPr lang="ko-KR" sz="850" dirty="0">
                <a:solidFill>
                  <a:srgbClr val="6E6E73"/>
                </a:solidFill>
                <a:latin typeface="Aptos"/>
                <a:ea typeface="Aptos"/>
                <a:cs typeface="Aptos"/>
              </a:rPr>
              <a:t>SPRAG 기반 사내 메신저 AI Assistant Architecture</a:t>
            </a:r>
            <a:endParaRPr lang="ko-KR" sz="850"/>
          </a:p>
        </p:txBody>
      </p:sp>
      <p:sp>
        <p:nvSpPr>
          <p:cNvPr id="21" name="PageNo"/>
          <p:cNvSpPr txBox="1"/>
          <p:nvPr/>
        </p:nvSpPr>
        <p:spPr>
          <a:xfrm>
            <a:off x="10835640" y="6473952"/>
            <a:ext cx="713232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r">
              <a:buNone/>
            </a:pPr>
            <a:r>
              <a:rPr lang="ko-KR" sz="850" dirty="0">
                <a:solidFill>
                  <a:srgbClr val="6E6E73"/>
                </a:solidFill>
                <a:latin typeface="Aptos"/>
                <a:ea typeface="Aptos"/>
                <a:cs typeface="Aptos"/>
              </a:rPr>
              <a:t>11/12</a:t>
            </a:r>
            <a:endParaRPr lang="ko-KR" sz="85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72729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Chapter"/>
          <p:cNvSpPr txBox="1"/>
          <p:nvPr/>
        </p:nvSpPr>
        <p:spPr>
          <a:xfrm>
            <a:off x="658368" y="347472"/>
            <a:ext cx="310896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buNone/>
            </a:pPr>
            <a:r>
              <a:rPr lang="ko-KR" sz="1050" dirty="0" b="1">
                <a:solidFill>
                  <a:srgbClr val="2997FF"/>
                </a:solidFill>
                <a:latin typeface="Aptos"/>
                <a:ea typeface="Aptos"/>
                <a:cs typeface="Aptos"/>
              </a:rPr>
              <a:t>APPENDIX A.6</a:t>
            </a:r>
            <a:endParaRPr lang="ko-KR" sz="1050"/>
          </a:p>
        </p:txBody>
      </p:sp>
      <p:sp>
        <p:nvSpPr>
          <p:cNvPr id="5" name="Title"/>
          <p:cNvSpPr txBox="1"/>
          <p:nvPr/>
        </p:nvSpPr>
        <p:spPr>
          <a:xfrm>
            <a:off x="658368" y="658368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buNone/>
            </a:pPr>
            <a:r>
              <a:rPr lang="ko-KR" sz="2600" dirty="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SPRAG Offline 데이터 정제</a:t>
            </a:r>
            <a:endParaRPr lang="ko-KR" sz="2600"/>
          </a:p>
        </p:txBody>
      </p:sp>
      <p:sp>
        <p:nvSpPr>
          <p:cNvPr id="6" name="Subtitle"/>
          <p:cNvSpPr txBox="1"/>
          <p:nvPr/>
        </p:nvSpPr>
        <p:spPr>
          <a:xfrm>
            <a:off x="658368" y="1133856"/>
            <a:ext cx="969264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buNone/>
            </a:pPr>
            <a:r>
              <a:rPr lang="ko-KR" sz="1250" dirty="0">
                <a:solidFill>
                  <a:srgbClr val="CCCCCC"/>
                </a:solidFill>
                <a:latin typeface="Aptos"/>
                <a:ea typeface="Aptos"/>
                <a:cs typeface="Aptos"/>
              </a:rPr>
              <a:t>원본 데이터를 수집·정규화·마스킹·중복 대표화·메타데이터 부여·인덱싱한다.</a:t>
            </a:r>
            <a:endParaRPr lang="ko-KR" sz="1250"/>
          </a:p>
        </p:txBody>
      </p:sp>
      <p:sp>
        <p:nvSpPr>
          <p:cNvPr id="7" name="Summary"/>
          <p:cNvSpPr txBox="1"/>
          <p:nvPr/>
        </p:nvSpPr>
        <p:spPr>
          <a:xfrm>
            <a:off x="658368" y="1664208"/>
            <a:ext cx="3886200" cy="1188720"/>
          </a:xfrm>
          <a:prstGeom prst="roundRect">
            <a:avLst/>
          </a:prstGeom>
          <a:solidFill>
            <a:srgbClr val="333336"/>
          </a:solidFill>
          <a:ln w="9525">
            <a:solidFill>
              <a:srgbClr val="56565A"/>
            </a:solidFill>
          </a:ln>
        </p:spPr>
        <p:txBody>
          <a:bodyPr wrap="square" anchor="t" lIns="137160" tIns="137160" rIns="137160" bIns="137160"/>
          <a:lstStyle/>
          <a:p>
            <a:pPr algn="l">
              <a:buNone/>
            </a:pPr>
            <a:r>
              <a:rPr lang="ko-KR" sz="1150" dirty="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Scenario</a:t>
            </a:r>
            <a:endParaRPr lang="ko-KR" sz="1150"/>
          </a:p>
          <a:p>
            <a:pPr algn="l">
              <a:buNone/>
            </a:pPr>
            <a:r>
              <a:rPr lang="ko-KR" sz="969" dirty="0">
                <a:solidFill>
                  <a:srgbClr val="CCCCCC"/>
                </a:solidFill>
                <a:latin typeface="Aptos"/>
                <a:ea typeface="Aptos"/>
                <a:cs typeface="Aptos"/>
              </a:rPr>
              <a:t>원본 데이터를 수집·정규화·마스킹·중복 대표화·메타데이터 부여·인덱싱한다.</a:t>
            </a:r>
            <a:endParaRPr lang="ko-KR" sz="969"/>
          </a:p>
        </p:txBody>
      </p:sp>
      <p:sp>
        <p:nvSpPr>
          <p:cNvPr id="8" name="Main Flow"/>
          <p:cNvSpPr txBox="1"/>
          <p:nvPr/>
        </p:nvSpPr>
        <p:spPr>
          <a:xfrm>
            <a:off x="4736592" y="1664208"/>
            <a:ext cx="6693408" cy="2121408"/>
          </a:xfrm>
          <a:prstGeom prst="roundRect">
            <a:avLst/>
          </a:prstGeom>
          <a:solidFill>
            <a:srgbClr val="333336"/>
          </a:solidFill>
          <a:ln w="9525">
            <a:solidFill>
              <a:srgbClr val="56565A"/>
            </a:solidFill>
          </a:ln>
        </p:spPr>
        <p:txBody>
          <a:bodyPr wrap="square" anchor="t" lIns="137160" tIns="137160" rIns="137160" bIns="137160"/>
          <a:lstStyle/>
          <a:p>
            <a:pPr algn="l">
              <a:buNone/>
            </a:pPr>
            <a:r>
              <a:rPr lang="ko-KR" sz="1150" dirty="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Main Flow</a:t>
            </a:r>
            <a:endParaRPr lang="ko-KR" sz="1150"/>
          </a:p>
          <a:p>
            <a:pPr algn="l">
              <a:buNone/>
            </a:pPr>
            <a:r>
              <a:rPr lang="ko-KR" sz="890" dirty="0">
                <a:solidFill>
                  <a:srgbClr val="CCCCCC"/>
                </a:solidFill>
                <a:latin typeface="Aptos"/>
                <a:ea typeface="Aptos"/>
                <a:cs typeface="Aptos"/>
              </a:rPr>
              <a:t>1. Data Collector가 원본 시스템 수집</a:t>
            </a:r>
            <a:endParaRPr lang="ko-KR" sz="890"/>
          </a:p>
          <a:p>
            <a:pPr algn="l">
              <a:buNone/>
            </a:pPr>
            <a:r>
              <a:rPr lang="ko-KR" sz="890" dirty="0">
                <a:solidFill>
                  <a:srgbClr val="CCCCCC"/>
                </a:solidFill>
                <a:latin typeface="Aptos"/>
                <a:ea typeface="Aptos"/>
                <a:cs typeface="Aptos"/>
              </a:rPr>
              <a:t>2. Normalizer가 공통 문서 모델 변환</a:t>
            </a:r>
            <a:endParaRPr lang="ko-KR" sz="890"/>
          </a:p>
          <a:p>
            <a:pPr algn="l">
              <a:buNone/>
            </a:pPr>
            <a:r>
              <a:rPr lang="ko-KR" sz="890" dirty="0">
                <a:solidFill>
                  <a:srgbClr val="CCCCCC"/>
                </a:solidFill>
                <a:latin typeface="Aptos"/>
                <a:ea typeface="Aptos"/>
                <a:cs typeface="Aptos"/>
              </a:rPr>
              <a:t>3. PII/Secret Masker 적용</a:t>
            </a:r>
            <a:endParaRPr lang="ko-KR" sz="890"/>
          </a:p>
          <a:p>
            <a:pPr algn="l">
              <a:buNone/>
            </a:pPr>
            <a:r>
              <a:rPr lang="ko-KR" sz="890" dirty="0">
                <a:solidFill>
                  <a:srgbClr val="CCCCCC"/>
                </a:solidFill>
                <a:latin typeface="Aptos"/>
                <a:ea typeface="Aptos"/>
                <a:cs typeface="Aptos"/>
              </a:rPr>
              <a:t>4. SPRAG Processor가 중복/유사 대표화</a:t>
            </a:r>
            <a:endParaRPr lang="ko-KR" sz="890"/>
          </a:p>
          <a:p>
            <a:pPr algn="l">
              <a:buNone/>
            </a:pPr>
            <a:r>
              <a:rPr lang="ko-KR" sz="890" dirty="0">
                <a:solidFill>
                  <a:srgbClr val="CCCCCC"/>
                </a:solidFill>
                <a:latin typeface="Aptos"/>
                <a:ea typeface="Aptos"/>
                <a:cs typeface="Aptos"/>
              </a:rPr>
              <a:t>5. Metadata Enricher와 Embedding Worker가 저장</a:t>
            </a:r>
            <a:endParaRPr lang="ko-KR" sz="890"/>
          </a:p>
        </p:txBody>
      </p:sp>
      <p:sp>
        <p:nvSpPr>
          <p:cNvPr id="9" name="Exceptions"/>
          <p:cNvSpPr txBox="1"/>
          <p:nvPr/>
        </p:nvSpPr>
        <p:spPr>
          <a:xfrm>
            <a:off x="658368" y="3127248"/>
            <a:ext cx="3886200" cy="1600200"/>
          </a:xfrm>
          <a:prstGeom prst="roundRect">
            <a:avLst/>
          </a:prstGeom>
          <a:solidFill>
            <a:srgbClr val="3A3A3D"/>
          </a:solidFill>
          <a:ln w="9525">
            <a:solidFill>
              <a:srgbClr val="56565A"/>
            </a:solidFill>
          </a:ln>
        </p:spPr>
        <p:txBody>
          <a:bodyPr wrap="square" anchor="t" lIns="137160" tIns="137160" rIns="137160" bIns="137160"/>
          <a:lstStyle/>
          <a:p>
            <a:pPr algn="l">
              <a:buNone/>
            </a:pPr>
            <a:r>
              <a:rPr lang="ko-KR" sz="1150" dirty="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Exception / Variation</a:t>
            </a:r>
            <a:endParaRPr lang="ko-KR" sz="1150"/>
          </a:p>
          <a:p>
            <a:pPr algn="l" marL="342900" indent="-171450">
              <a:buChar char="•"/>
            </a:pPr>
            <a:r>
              <a:rPr lang="ko-KR" sz="880" dirty="0">
                <a:solidFill>
                  <a:srgbClr val="CCCCCC"/>
                </a:solidFill>
                <a:latin typeface="Aptos"/>
                <a:ea typeface="Aptos"/>
                <a:cs typeface="Aptos"/>
              </a:rPr>
              <a:t>원본 API 장애</a:t>
            </a:r>
            <a:endParaRPr lang="ko-KR" sz="880"/>
          </a:p>
          <a:p>
            <a:pPr algn="l" marL="342900" indent="-171450">
              <a:buChar char="•"/>
            </a:pPr>
            <a:r>
              <a:rPr lang="ko-KR" sz="880" dirty="0">
                <a:solidFill>
                  <a:srgbClr val="CCCCCC"/>
                </a:solidFill>
                <a:latin typeface="Aptos"/>
                <a:ea typeface="Aptos"/>
                <a:cs typeface="Aptos"/>
              </a:rPr>
              <a:t>중복 판단 불확실</a:t>
            </a:r>
            <a:endParaRPr lang="ko-KR" sz="880"/>
          </a:p>
          <a:p>
            <a:pPr algn="l" marL="342900" indent="-171450">
              <a:buChar char="•"/>
            </a:pPr>
            <a:r>
              <a:rPr lang="ko-KR" sz="880" dirty="0">
                <a:solidFill>
                  <a:srgbClr val="CCCCCC"/>
                </a:solidFill>
                <a:latin typeface="Aptos"/>
                <a:ea typeface="Aptos"/>
                <a:cs typeface="Aptos"/>
              </a:rPr>
              <a:t>권한 메타데이터 누락</a:t>
            </a:r>
            <a:endParaRPr lang="ko-KR" sz="880"/>
          </a:p>
          <a:p>
            <a:pPr algn="l" marL="342900" indent="-171450">
              <a:buChar char="•"/>
            </a:pPr>
            <a:r>
              <a:rPr lang="ko-KR" sz="880" dirty="0">
                <a:solidFill>
                  <a:srgbClr val="CCCCCC"/>
                </a:solidFill>
                <a:latin typeface="Aptos"/>
                <a:ea typeface="Aptos"/>
                <a:cs typeface="Aptos"/>
              </a:rPr>
              <a:t>삭제/TTL 이벤트</a:t>
            </a:r>
            <a:endParaRPr lang="ko-KR" sz="880"/>
          </a:p>
          <a:p>
            <a:pPr algn="l" marL="342900" indent="-171450">
              <a:buChar char="•"/>
            </a:pPr>
            <a:r>
              <a:rPr lang="ko-KR" sz="880" dirty="0">
                <a:solidFill>
                  <a:srgbClr val="CCCCCC"/>
                </a:solidFill>
                <a:latin typeface="Aptos"/>
                <a:ea typeface="Aptos"/>
                <a:cs typeface="Aptos"/>
              </a:rPr>
              <a:t>임베딩 실패</a:t>
            </a:r>
            <a:endParaRPr lang="ko-KR" sz="880"/>
          </a:p>
        </p:txBody>
      </p:sp>
      <p:sp>
        <p:nvSpPr>
          <p:cNvPr id="10" name="Source"/>
          <p:cNvSpPr txBox="1"/>
          <p:nvPr/>
        </p:nvSpPr>
        <p:spPr>
          <a:xfrm>
            <a:off x="4773168" y="4187952"/>
            <a:ext cx="841248" cy="256032"/>
          </a:xfrm>
          <a:prstGeom prst="roundRect">
            <a:avLst/>
          </a:prstGeom>
          <a:solidFill>
            <a:srgbClr val="0066CC"/>
          </a:solidFill>
          <a:ln>
            <a:noFill/>
          </a:ln>
        </p:spPr>
        <p:txBody>
          <a:bodyPr wrap="square" anchor="ctr" lIns="0" tIns="0" rIns="0" bIns="0"/>
          <a:lstStyle/>
          <a:p>
            <a:pPr algn="ctr">
              <a:buNone/>
            </a:pPr>
            <a:r>
              <a:rPr lang="ko-KR" sz="850" dirty="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Source</a:t>
            </a:r>
            <a:endParaRPr lang="ko-KR" sz="850"/>
          </a:p>
        </p:txBody>
      </p:sp>
      <p:sp>
        <p:nvSpPr>
          <p:cNvPr id="11" name="Arrow"/>
          <p:cNvSpPr txBox="1"/>
          <p:nvPr/>
        </p:nvSpPr>
        <p:spPr>
          <a:xfrm>
            <a:off x="5660136" y="4178808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buNone/>
            </a:pPr>
            <a:r>
              <a:rPr lang="ko-KR" sz="1100" dirty="0" b="1">
                <a:solidFill>
                  <a:srgbClr val="2997FF"/>
                </a:solidFill>
                <a:latin typeface="Aptos"/>
                <a:ea typeface="Aptos"/>
                <a:cs typeface="Aptos"/>
              </a:rPr>
              <a:t>→</a:t>
            </a:r>
            <a:endParaRPr lang="ko-KR" sz="1100"/>
          </a:p>
        </p:txBody>
      </p:sp>
      <p:sp>
        <p:nvSpPr>
          <p:cNvPr id="12" name="Normalize"/>
          <p:cNvSpPr txBox="1"/>
          <p:nvPr/>
        </p:nvSpPr>
        <p:spPr>
          <a:xfrm>
            <a:off x="6007608" y="4187952"/>
            <a:ext cx="841248" cy="256032"/>
          </a:xfrm>
          <a:prstGeom prst="roundRect">
            <a:avLst/>
          </a:prstGeom>
          <a:solidFill>
            <a:srgbClr val="0066CC"/>
          </a:solidFill>
          <a:ln>
            <a:noFill/>
          </a:ln>
        </p:spPr>
        <p:txBody>
          <a:bodyPr wrap="square" anchor="ctr" lIns="0" tIns="0" rIns="0" bIns="0"/>
          <a:lstStyle/>
          <a:p>
            <a:pPr algn="ctr">
              <a:buNone/>
            </a:pPr>
            <a:r>
              <a:rPr lang="ko-KR" sz="850" dirty="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Normalize</a:t>
            </a:r>
            <a:endParaRPr lang="ko-KR" sz="850"/>
          </a:p>
        </p:txBody>
      </p:sp>
      <p:sp>
        <p:nvSpPr>
          <p:cNvPr id="13" name="Arrow"/>
          <p:cNvSpPr txBox="1"/>
          <p:nvPr/>
        </p:nvSpPr>
        <p:spPr>
          <a:xfrm>
            <a:off x="6894576" y="4178808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buNone/>
            </a:pPr>
            <a:r>
              <a:rPr lang="ko-KR" sz="1100" dirty="0" b="1">
                <a:solidFill>
                  <a:srgbClr val="2997FF"/>
                </a:solidFill>
                <a:latin typeface="Aptos"/>
                <a:ea typeface="Aptos"/>
                <a:cs typeface="Aptos"/>
              </a:rPr>
              <a:t>→</a:t>
            </a:r>
            <a:endParaRPr lang="ko-KR" sz="1100"/>
          </a:p>
        </p:txBody>
      </p:sp>
      <p:sp>
        <p:nvSpPr>
          <p:cNvPr id="14" name="SPRAG"/>
          <p:cNvSpPr txBox="1"/>
          <p:nvPr/>
        </p:nvSpPr>
        <p:spPr>
          <a:xfrm>
            <a:off x="7242048" y="4187952"/>
            <a:ext cx="841248" cy="256032"/>
          </a:xfrm>
          <a:prstGeom prst="roundRect">
            <a:avLst/>
          </a:prstGeom>
          <a:solidFill>
            <a:srgbClr val="0066CC"/>
          </a:solidFill>
          <a:ln>
            <a:noFill/>
          </a:ln>
        </p:spPr>
        <p:txBody>
          <a:bodyPr wrap="square" anchor="ctr" lIns="0" tIns="0" rIns="0" bIns="0"/>
          <a:lstStyle/>
          <a:p>
            <a:pPr algn="ctr">
              <a:buNone/>
            </a:pPr>
            <a:r>
              <a:rPr lang="ko-KR" sz="850" dirty="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SPRAG</a:t>
            </a:r>
            <a:endParaRPr lang="ko-KR" sz="850"/>
          </a:p>
        </p:txBody>
      </p:sp>
      <p:sp>
        <p:nvSpPr>
          <p:cNvPr id="15" name="Arrow"/>
          <p:cNvSpPr txBox="1"/>
          <p:nvPr/>
        </p:nvSpPr>
        <p:spPr>
          <a:xfrm>
            <a:off x="8129016" y="4178808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buNone/>
            </a:pPr>
            <a:r>
              <a:rPr lang="ko-KR" sz="1100" dirty="0" b="1">
                <a:solidFill>
                  <a:srgbClr val="2997FF"/>
                </a:solidFill>
                <a:latin typeface="Aptos"/>
                <a:ea typeface="Aptos"/>
                <a:cs typeface="Aptos"/>
              </a:rPr>
              <a:t>→</a:t>
            </a:r>
            <a:endParaRPr lang="ko-KR" sz="1100"/>
          </a:p>
        </p:txBody>
      </p:sp>
      <p:sp>
        <p:nvSpPr>
          <p:cNvPr id="16" name="Metadata"/>
          <p:cNvSpPr txBox="1"/>
          <p:nvPr/>
        </p:nvSpPr>
        <p:spPr>
          <a:xfrm>
            <a:off x="8476488" y="4187952"/>
            <a:ext cx="841248" cy="256032"/>
          </a:xfrm>
          <a:prstGeom prst="roundRect">
            <a:avLst/>
          </a:prstGeom>
          <a:solidFill>
            <a:srgbClr val="0066CC"/>
          </a:solidFill>
          <a:ln>
            <a:noFill/>
          </a:ln>
        </p:spPr>
        <p:txBody>
          <a:bodyPr wrap="square" anchor="ctr" lIns="0" tIns="0" rIns="0" bIns="0"/>
          <a:lstStyle/>
          <a:p>
            <a:pPr algn="ctr">
              <a:buNone/>
            </a:pPr>
            <a:r>
              <a:rPr lang="ko-KR" sz="850" dirty="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Metadata</a:t>
            </a:r>
            <a:endParaRPr lang="ko-KR" sz="850"/>
          </a:p>
        </p:txBody>
      </p:sp>
      <p:sp>
        <p:nvSpPr>
          <p:cNvPr id="17" name="Arrow"/>
          <p:cNvSpPr txBox="1"/>
          <p:nvPr/>
        </p:nvSpPr>
        <p:spPr>
          <a:xfrm>
            <a:off x="9363456" y="4178808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buNone/>
            </a:pPr>
            <a:r>
              <a:rPr lang="ko-KR" sz="1100" dirty="0" b="1">
                <a:solidFill>
                  <a:srgbClr val="2997FF"/>
                </a:solidFill>
                <a:latin typeface="Aptos"/>
                <a:ea typeface="Aptos"/>
                <a:cs typeface="Aptos"/>
              </a:rPr>
              <a:t>→</a:t>
            </a:r>
            <a:endParaRPr lang="ko-KR" sz="1100"/>
          </a:p>
        </p:txBody>
      </p:sp>
      <p:sp>
        <p:nvSpPr>
          <p:cNvPr id="18" name="Index"/>
          <p:cNvSpPr txBox="1"/>
          <p:nvPr/>
        </p:nvSpPr>
        <p:spPr>
          <a:xfrm>
            <a:off x="9710928" y="4187952"/>
            <a:ext cx="841248" cy="256032"/>
          </a:xfrm>
          <a:prstGeom prst="roundRect">
            <a:avLst/>
          </a:prstGeom>
          <a:solidFill>
            <a:srgbClr val="0066CC"/>
          </a:solidFill>
          <a:ln>
            <a:noFill/>
          </a:ln>
        </p:spPr>
        <p:txBody>
          <a:bodyPr wrap="square" anchor="ctr" lIns="0" tIns="0" rIns="0" bIns="0"/>
          <a:lstStyle/>
          <a:p>
            <a:pPr algn="ctr">
              <a:buNone/>
            </a:pPr>
            <a:r>
              <a:rPr lang="ko-KR" sz="850" dirty="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Index</a:t>
            </a:r>
            <a:endParaRPr lang="ko-KR" sz="850"/>
          </a:p>
        </p:txBody>
      </p:sp>
      <p:sp>
        <p:nvSpPr>
          <p:cNvPr id="19" name="FR"/>
          <p:cNvSpPr txBox="1"/>
          <p:nvPr/>
        </p:nvSpPr>
        <p:spPr>
          <a:xfrm>
            <a:off x="4736592" y="4773168"/>
            <a:ext cx="6693408" cy="786384"/>
          </a:xfrm>
          <a:prstGeom prst="roundRect">
            <a:avLst/>
          </a:prstGeom>
          <a:solidFill>
            <a:srgbClr val="3A3A3D"/>
          </a:solidFill>
          <a:ln w="9525">
            <a:solidFill>
              <a:srgbClr val="56565A"/>
            </a:solidFill>
          </a:ln>
        </p:spPr>
        <p:txBody>
          <a:bodyPr wrap="square" anchor="t" lIns="137160" tIns="137160" rIns="137160" bIns="137160"/>
          <a:lstStyle/>
          <a:p>
            <a:pPr algn="l">
              <a:buNone/>
            </a:pPr>
            <a:r>
              <a:rPr lang="ko-KR" sz="1150" dirty="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Related FR / QA</a:t>
            </a:r>
            <a:endParaRPr lang="ko-KR" sz="1150"/>
          </a:p>
          <a:p>
            <a:pPr algn="l">
              <a:buNone/>
            </a:pPr>
            <a:r>
              <a:rPr lang="ko-KR" sz="880" dirty="0">
                <a:solidFill>
                  <a:srgbClr val="CCCCCC"/>
                </a:solidFill>
                <a:latin typeface="Aptos"/>
                <a:ea typeface="Aptos"/>
                <a:cs typeface="Aptos"/>
              </a:rPr>
              <a:t>FR-1, FR-2, FR-3, FR-4, FR-5, FR-6  ·  QA: Functional Suitability, Security, Performance Efficiency, Reliability, Maintainability 중 관련 항목 적용</a:t>
            </a:r>
            <a:endParaRPr lang="ko-KR" sz="880"/>
          </a:p>
        </p:txBody>
      </p:sp>
      <p:sp>
        <p:nvSpPr>
          <p:cNvPr id="20" name="Footer"/>
          <p:cNvSpPr txBox="1"/>
          <p:nvPr/>
        </p:nvSpPr>
        <p:spPr>
          <a:xfrm>
            <a:off x="658368" y="6473952"/>
            <a:ext cx="54864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buNone/>
            </a:pPr>
            <a:r>
              <a:rPr lang="ko-KR" sz="850" dirty="0">
                <a:solidFill>
                  <a:srgbClr val="CCCCCC"/>
                </a:solidFill>
                <a:latin typeface="Aptos"/>
                <a:ea typeface="Aptos"/>
                <a:cs typeface="Aptos"/>
              </a:rPr>
              <a:t>SPRAG 기반 사내 메신저 AI Assistant Architecture</a:t>
            </a:r>
            <a:endParaRPr lang="ko-KR" sz="850"/>
          </a:p>
        </p:txBody>
      </p:sp>
      <p:sp>
        <p:nvSpPr>
          <p:cNvPr id="21" name="PageNo"/>
          <p:cNvSpPr txBox="1"/>
          <p:nvPr/>
        </p:nvSpPr>
        <p:spPr>
          <a:xfrm>
            <a:off x="10835640" y="6473952"/>
            <a:ext cx="713232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r">
              <a:buNone/>
            </a:pPr>
            <a:r>
              <a:rPr lang="ko-KR" sz="850" dirty="0">
                <a:solidFill>
                  <a:srgbClr val="CCCCCC"/>
                </a:solidFill>
                <a:latin typeface="Aptos"/>
                <a:ea typeface="Aptos"/>
                <a:cs typeface="Aptos"/>
              </a:rPr>
              <a:t>12/12</a:t>
            </a:r>
            <a:endParaRPr lang="ko-KR" sz="8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rchitecture Theme">
  <a:themeElements>
    <a:clrScheme name="Office">
      <a:dk1>
        <a:srgbClr val="000000"/>
      </a:dk1>
      <a:lt1>
        <a:srgbClr val="FFFFFF"/>
      </a:lt1>
      <a:dk2>
        <a:srgbClr val="1D1D1F"/>
      </a:dk2>
      <a:lt2>
        <a:srgbClr val="F5F5F7"/>
      </a:lt2>
      <a:accent1>
        <a:srgbClr val="0066CC"/>
      </a:accent1>
      <a:accent2>
        <a:srgbClr val="2997FF"/>
      </a:accent2>
      <a:accent3>
        <a:srgbClr val="6E6E73"/>
      </a:accent3>
      <a:accent4>
        <a:srgbClr val="272729"/>
      </a:accent4>
      <a:accent5>
        <a:srgbClr val="E0E0E0"/>
      </a:accent5>
      <a:accent6>
        <a:srgbClr val="CCCCCC"/>
      </a:accent6>
      <a:hlink>
        <a:srgbClr val="0066CC"/>
      </a:hlink>
      <a:folHlink>
        <a:srgbClr val="2997FF"/>
      </a:folHlink>
    </a:clrScheme>
    <a:fontScheme name="Aptos">
      <a:majorFont>
        <a:latin typeface="Aptos"/>
        <a:ea typeface="Aptos"/>
        <a:cs typeface="Aptos"/>
      </a:majorFont>
      <a:minorFont>
        <a:latin typeface="Aptos"/>
        <a:ea typeface="Aptos"/>
        <a:cs typeface="Aptos"/>
      </a:minorFont>
    </a:fontScheme>
    <a:fmtScheme name="Office">
      <a:fillStyleLst>
        <a:solidFill>
          <a:schemeClr val="phClr"/>
        </a:solidFill>
      </a:fillStyleLst>
      <a:lnStyleLst>
        <a:ln w="635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On-screen Show (16:9)</PresentationFormat>
  <Slides>12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SPRAG Project Overview</dc:title>
  <dc:creator>Codex</dc:creator>
  <cp:lastModifiedBy>Codex</cp:lastModifiedBy>
  <dcterms:created xsi:type="dcterms:W3CDTF">2026-05-06T08:00:17Z</dcterms:created>
  <dcterms:modified xsi:type="dcterms:W3CDTF">2026-05-06T08:00:17Z</dcterms:modified>
</cp:coreProperties>
</file>